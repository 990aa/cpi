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6" r:id="rId18"/>
    <p:sldId id="265" r:id="rId17"/>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1.xml"/><Relationship Id="rId18" Type="http://schemas.openxmlformats.org/officeDocument/2006/relationships/slide" Target="slides/slide10.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SkillSwap starts with a simple idea: the skill you want to learn may already belong to someone on your campus. Our app helps students share what they know, discover what they want to learn, and build meaningful connections. Today, I’ll walk you through the interface, the student journey, and how the experience extends from mobile to desktop.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have valuable skills that others never discover. Someone may know Flutter, another may be good at design, and a third may understand photography. Yet finding the right person usually depends on existing friends. SkillSwap brings these abilities into one campus community and makes the exchange visible, so students have a clear reason to connect.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matching idea is reciprocal. For example, Dheeraj can teach Flutter and wants to learn UI design. Swara can teach UI design and wants to learn Flutter. They are useful learning partners because both can contribute. The proposed algorithm first keeps discovery within the same campus, then looks for complementary teaching and learning interests. This explains the concept, rather than claiming an implemented matching engine.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visual system follows the supplied screens. Burgundy highlights primary actions, evergreen represents skills and positive states, and warm ivory keeps the interface approachable. Rounded cards group related information. For the presentation, expressive serif headlines add personality while clean sans serif text keeps explanations readable. The goal is a consistent identity that feels welcoming to students and credible as a campus product.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landing page immediately explains the benefit: swap skills and build connections. Campus imagery reinforces the local community, while a prominent Get Started button gives students a clear next action. The details screen then introduces a visible three-step journey. Clear labels and familiar form fields help students understand what information is needed without crowding the screen.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screens explain why identity information is requested, show how to upload a college ID, and confirm that the profile is ready. This creates a more understandable onboarding sequence. However, the supplied prototype states that identity verification is not connected. The presentation therefore treats these as interface designs; a production release would still need a working verification process and clear handling of student documents.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profile captures the two sides of a skill exchange: what a student can share and what they want to learn. Discovery cards repeat those same labels, so students can quickly judge whether a connection makes sense. Category filters support browsing, and a consistent Connect button provides the next step. The people shown in the supplied discovery screen are sample matches, not verified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new concept extends the same visual identity to desktop and mobile. On a larger screen, filters and multiple profiles can stay visible together, making comparison easier. On mobile, the content becomes a focused vertical feed. The burgundy actions, green skill labels, and ivory background stay consistent. This is a proposed responsive design, including navigation for future connections and messaging features.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Matching is only the beginning. The proposed next phase helps students send a connection request, discuss what they want to learn, and agree on a session. After the exchange, feedback could help both students improve. These communication and planning features are part of the product direction, rather than screens already demonstrated in the supplied prototype.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SkillSwap brings together three ideas: discover the right peers, exchange useful knowledge, and grow through real campus connections. The current UI establishes a welcoming identity and a clear onboarding and discovery journey. The next step is to complete reciprocal matching, verification, and communication, then test the full experience with students. Our vision is a campus where everyone has something to teach. Thank you.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Flutter for our cross-platform frontend and FastAPI for our Python backend. Flutter helps us build a consistent interface across devices, while FastAPI handles application requests and logic. For the supporting stack, we recommend PostgreSQL for structured data, Supabase for authentication and private uploads, and GitHub with Docker for development and backend packaging. These supporting tools are recommendations, not confirmed implementations.</a:t>
            </a:r>
          </a:p>
          <a:p/>
          <a:p>
            <a:r>
              <a:t>Official references: https://docs.flutter.dev/ ; https://fastapi.tiangolo.com/ ; https://supabase.com/docs ; https://docs.docker.com/get-started/docker-overview/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SkillSwap is about helping students discover the knowledge already present on their campus and turn it into meaningful connections. We look forward to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348"/>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F8F6F0"/>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F8F6F0"/>
                </a:solidFill>
                <a:latin typeface="Nimbus Sans"/>
              </a:defRPr>
            </a:pPr>
            <a:r>
              <a:t>01 / 12</a:t>
            </a:r>
          </a:p>
        </p:txBody>
      </p:sp>
      <p:sp>
        <p:nvSpPr>
          <p:cNvPr id="4" name="Rectangle 3"/>
          <p:cNvSpPr/>
          <p:nvPr/>
        </p:nvSpPr>
        <p:spPr>
          <a:xfrm>
            <a:off x="487680" y="579120"/>
            <a:ext cx="11216640" cy="15240"/>
          </a:xfrm>
          <a:prstGeom prst="rect">
            <a:avLst/>
          </a:prstGeom>
          <a:solidFill>
            <a:srgbClr val="CF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CFE8DF"/>
                </a:solidFill>
                <a:latin typeface="Nimbus Sans"/>
              </a:defRPr>
            </a:pPr>
            <a:r>
              <a:t>A CAMPUS LEARNING COMMUNITY</a:t>
            </a:r>
          </a:p>
        </p:txBody>
      </p:sp>
      <p:sp>
        <p:nvSpPr>
          <p:cNvPr id="6" name="TextBox 5"/>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F8F6F0"/>
                </a:solidFill>
                <a:latin typeface="Nimbus Sans"/>
              </a:defRPr>
            </a:pPr>
            <a:r>
              <a:t>CAMPUS CONNECTIONS, BUILT AROUND SKILLS</a:t>
            </a:r>
          </a:p>
        </p:txBody>
      </p:sp>
      <p:sp>
        <p:nvSpPr>
          <p:cNvPr id="7" name="TextBox 6"/>
          <p:cNvSpPr txBox="1"/>
          <p:nvPr/>
        </p:nvSpPr>
        <p:spPr>
          <a:xfrm>
            <a:off x="487680" y="1562100"/>
            <a:ext cx="7010400" cy="1630680"/>
          </a:xfrm>
          <a:prstGeom prst="rect">
            <a:avLst/>
          </a:prstGeom>
          <a:noFill/>
        </p:spPr>
        <p:txBody>
          <a:bodyPr wrap="none" lIns="0" rIns="0" tIns="0" bIns="0">
            <a:spAutoFit/>
          </a:bodyPr>
          <a:lstStyle/>
          <a:p>
            <a:pPr>
              <a:lnSpc>
                <a:spcPct val="118000"/>
              </a:lnSpc>
              <a:spcBef>
                <a:spcPts val="0"/>
              </a:spcBef>
              <a:spcAft>
                <a:spcPts val="0"/>
              </a:spcAft>
              <a:defRPr sz="5040" b="0">
                <a:solidFill>
                  <a:srgbClr val="F8F6F0"/>
                </a:solidFill>
                <a:latin typeface="Nimbus Roman"/>
              </a:defRPr>
            </a:pPr>
            <a:r>
              <a:t>Your next skill.</a:t>
            </a:r>
          </a:p>
          <a:p>
            <a:pPr>
              <a:lnSpc>
                <a:spcPct val="118000"/>
              </a:lnSpc>
              <a:spcBef>
                <a:spcPts val="0"/>
              </a:spcBef>
              <a:spcAft>
                <a:spcPts val="0"/>
              </a:spcAft>
              <a:defRPr sz="5040" b="0">
                <a:solidFill>
                  <a:srgbClr val="F8F6F0"/>
                </a:solidFill>
                <a:latin typeface="Nimbus Roman"/>
              </a:defRPr>
            </a:pPr>
            <a:r>
              <a:t>Your own campus.</a:t>
            </a:r>
          </a:p>
        </p:txBody>
      </p:sp>
      <p:sp>
        <p:nvSpPr>
          <p:cNvPr id="8" name="TextBox 7"/>
          <p:cNvSpPr txBox="1"/>
          <p:nvPr/>
        </p:nvSpPr>
        <p:spPr>
          <a:xfrm>
            <a:off x="487680" y="3337560"/>
            <a:ext cx="5791200" cy="746760"/>
          </a:xfrm>
          <a:prstGeom prst="rect">
            <a:avLst/>
          </a:prstGeom>
          <a:noFill/>
        </p:spPr>
        <p:txBody>
          <a:bodyPr wrap="none" lIns="0" rIns="0" tIns="0" bIns="0">
            <a:spAutoFit/>
          </a:bodyPr>
          <a:lstStyle/>
          <a:p>
            <a:pPr>
              <a:lnSpc>
                <a:spcPct val="118000"/>
              </a:lnSpc>
              <a:spcBef>
                <a:spcPts val="0"/>
              </a:spcBef>
              <a:spcAft>
                <a:spcPts val="0"/>
              </a:spcAft>
              <a:defRPr sz="4200" b="1">
                <a:solidFill>
                  <a:srgbClr val="F8F6F0"/>
                </a:solidFill>
                <a:latin typeface="Nimbus Sans"/>
              </a:defRPr>
            </a:pPr>
            <a:r>
              <a:t>SkillSwap</a:t>
            </a:r>
          </a:p>
        </p:txBody>
      </p:sp>
      <p:sp>
        <p:nvSpPr>
          <p:cNvPr id="9" name="TextBox 8"/>
          <p:cNvSpPr txBox="1"/>
          <p:nvPr/>
        </p:nvSpPr>
        <p:spPr>
          <a:xfrm>
            <a:off x="518160" y="4114800"/>
            <a:ext cx="6248400" cy="731520"/>
          </a:xfrm>
          <a:prstGeom prst="rect">
            <a:avLst/>
          </a:prstGeom>
          <a:noFill/>
        </p:spPr>
        <p:txBody>
          <a:bodyPr wrap="none" lIns="0" rIns="0" tIns="0" bIns="0">
            <a:spAutoFit/>
          </a:bodyPr>
          <a:lstStyle/>
          <a:p>
            <a:pPr>
              <a:lnSpc>
                <a:spcPct val="118000"/>
              </a:lnSpc>
              <a:spcBef>
                <a:spcPts val="0"/>
              </a:spcBef>
              <a:spcAft>
                <a:spcPts val="0"/>
              </a:spcAft>
              <a:defRPr sz="2039" b="0">
                <a:solidFill>
                  <a:srgbClr val="CFE8DF"/>
                </a:solidFill>
                <a:latin typeface="Nimbus Sans"/>
              </a:defRPr>
            </a:pPr>
            <a:r>
              <a:t>Teach what you know.</a:t>
            </a:r>
          </a:p>
          <a:p>
            <a:pPr>
              <a:lnSpc>
                <a:spcPct val="118000"/>
              </a:lnSpc>
              <a:spcBef>
                <a:spcPts val="0"/>
              </a:spcBef>
              <a:spcAft>
                <a:spcPts val="0"/>
              </a:spcAft>
              <a:defRPr sz="2039" b="0">
                <a:solidFill>
                  <a:srgbClr val="CFE8DF"/>
                </a:solidFill>
                <a:latin typeface="Nimbus Sans"/>
              </a:defRPr>
            </a:pPr>
            <a:r>
              <a:t>Learn what you love.</a:t>
            </a:r>
          </a:p>
        </p:txBody>
      </p:sp>
      <p:sp>
        <p:nvSpPr>
          <p:cNvPr id="10" name="Rounded Rectangle 9"/>
          <p:cNvSpPr/>
          <p:nvPr/>
        </p:nvSpPr>
        <p:spPr>
          <a:xfrm>
            <a:off x="518160" y="5280660"/>
            <a:ext cx="4724400" cy="518160"/>
          </a:xfrm>
          <a:prstGeom prst="roundRect">
            <a:avLst>
              <a:gd name="adj" fmla="val 12000"/>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6280" y="5440680"/>
            <a:ext cx="4343400" cy="312420"/>
          </a:xfrm>
          <a:prstGeom prst="rect">
            <a:avLst/>
          </a:prstGeom>
          <a:noFill/>
        </p:spPr>
        <p:txBody>
          <a:bodyPr wrap="none" lIns="0" rIns="0" tIns="0" bIns="0">
            <a:spAutoFit/>
          </a:bodyPr>
          <a:lstStyle/>
          <a:p>
            <a:pPr>
              <a:lnSpc>
                <a:spcPct val="118000"/>
              </a:lnSpc>
              <a:spcBef>
                <a:spcPts val="0"/>
              </a:spcBef>
              <a:spcAft>
                <a:spcPts val="0"/>
              </a:spcAft>
              <a:defRPr sz="1320" b="1">
                <a:solidFill>
                  <a:srgbClr val="005348"/>
                </a:solidFill>
                <a:latin typeface="Nimbus Sans"/>
              </a:defRPr>
            </a:pPr>
            <a:r>
              <a:t>MOBILE + DESKTOP  /  PRODUCT UI</a:t>
            </a:r>
          </a:p>
        </p:txBody>
      </p:sp>
      <p:sp>
        <p:nvSpPr>
          <p:cNvPr id="12" name="Rounded Rectangle 11"/>
          <p:cNvSpPr/>
          <p:nvPr/>
        </p:nvSpPr>
        <p:spPr>
          <a:xfrm>
            <a:off x="8511540" y="1082040"/>
            <a:ext cx="2695041" cy="4922520"/>
          </a:xfrm>
          <a:prstGeom prst="roundRect">
            <a:avLst>
              <a:gd name="adj" fmla="val 12000"/>
            </a:avLst>
          </a:prstGeom>
          <a:solidFill>
            <a:srgbClr val="193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20261006-042226).png"/>
          <p:cNvPicPr>
            <a:picLocks noChangeAspect="1"/>
          </p:cNvPicPr>
          <p:nvPr/>
        </p:nvPicPr>
        <p:blipFill>
          <a:blip r:embed="rId2"/>
          <a:stretch>
            <a:fillRect/>
          </a:stretch>
        </p:blipFill>
        <p:spPr>
          <a:xfrm>
            <a:off x="8575090" y="1150620"/>
            <a:ext cx="2567940" cy="47853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005348"/>
                </a:solidFill>
                <a:latin typeface="Nimbus Sans"/>
              </a:defRPr>
            </a:pPr>
            <a:r>
              <a:t>02 / 12</a:t>
            </a:r>
          </a:p>
        </p:txBody>
      </p:sp>
      <p:sp>
        <p:nvSpPr>
          <p:cNvPr id="4" name="Rectangle 3"/>
          <p:cNvSpPr/>
          <p:nvPr/>
        </p:nvSpPr>
        <p:spPr>
          <a:xfrm>
            <a:off x="487680" y="579120"/>
            <a:ext cx="11216640" cy="15240"/>
          </a:xfrm>
          <a:prstGeom prst="rect">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01 / THE OPPORTUNITY</a:t>
            </a:r>
          </a:p>
        </p:txBody>
      </p:sp>
      <p:sp>
        <p:nvSpPr>
          <p:cNvPr id="6" name="TextBox 5"/>
          <p:cNvSpPr txBox="1"/>
          <p:nvPr/>
        </p:nvSpPr>
        <p:spPr>
          <a:xfrm>
            <a:off x="487680" y="1143000"/>
            <a:ext cx="110490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19313D"/>
                </a:solidFill>
                <a:latin typeface="Nimbus Sans"/>
              </a:defRPr>
            </a:pPr>
            <a:r>
              <a:t>A campus full of talent. A missing connection.</a:t>
            </a:r>
          </a:p>
        </p:txBody>
      </p:sp>
      <p:sp>
        <p:nvSpPr>
          <p:cNvPr id="7" name="TextBox 6"/>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005348"/>
                </a:solidFill>
                <a:latin typeface="Nimbus Sans"/>
              </a:defRPr>
            </a:pPr>
            <a:r>
              <a:t>CAMPUS CONNECTIONS, BUILT AROUND SKILLS</a:t>
            </a:r>
          </a:p>
        </p:txBody>
      </p:sp>
      <p:sp>
        <p:nvSpPr>
          <p:cNvPr id="8" name="Rounded Rectangle 7"/>
          <p:cNvSpPr/>
          <p:nvPr/>
        </p:nvSpPr>
        <p:spPr>
          <a:xfrm>
            <a:off x="487680" y="2247900"/>
            <a:ext cx="3566160" cy="25146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1040" y="2476500"/>
            <a:ext cx="3048000" cy="731520"/>
          </a:xfrm>
          <a:prstGeom prst="rect">
            <a:avLst/>
          </a:prstGeom>
          <a:noFill/>
        </p:spPr>
        <p:txBody>
          <a:bodyPr wrap="none" lIns="0" rIns="0" tIns="0" bIns="0">
            <a:spAutoFit/>
          </a:bodyPr>
          <a:lstStyle/>
          <a:p>
            <a:pPr>
              <a:lnSpc>
                <a:spcPct val="118000"/>
              </a:lnSpc>
              <a:spcBef>
                <a:spcPts val="0"/>
              </a:spcBef>
              <a:spcAft>
                <a:spcPts val="0"/>
              </a:spcAft>
              <a:defRPr sz="4079" b="0">
                <a:solidFill>
                  <a:srgbClr val="841329"/>
                </a:solidFill>
                <a:latin typeface="Nimbus Roman"/>
              </a:defRPr>
            </a:pPr>
            <a:r>
              <a:t>01</a:t>
            </a:r>
          </a:p>
        </p:txBody>
      </p:sp>
      <p:sp>
        <p:nvSpPr>
          <p:cNvPr id="10" name="TextBox 9"/>
          <p:cNvSpPr txBox="1"/>
          <p:nvPr/>
        </p:nvSpPr>
        <p:spPr>
          <a:xfrm>
            <a:off x="701040" y="3291840"/>
            <a:ext cx="3200400" cy="381000"/>
          </a:xfrm>
          <a:prstGeom prst="rect">
            <a:avLst/>
          </a:prstGeom>
          <a:noFill/>
        </p:spPr>
        <p:txBody>
          <a:bodyPr wrap="none" lIns="0" rIns="0" tIns="0" bIns="0">
            <a:spAutoFit/>
          </a:bodyPr>
          <a:lstStyle/>
          <a:p>
            <a:pPr>
              <a:lnSpc>
                <a:spcPct val="118000"/>
              </a:lnSpc>
              <a:spcBef>
                <a:spcPts val="0"/>
              </a:spcBef>
              <a:spcAft>
                <a:spcPts val="0"/>
              </a:spcAft>
              <a:defRPr sz="1739" b="1">
                <a:solidFill>
                  <a:srgbClr val="19313D"/>
                </a:solidFill>
                <a:latin typeface="Nimbus Sans"/>
              </a:defRPr>
            </a:pPr>
            <a:r>
              <a:t>Skills stay hidden</a:t>
            </a:r>
          </a:p>
        </p:txBody>
      </p:sp>
      <p:sp>
        <p:nvSpPr>
          <p:cNvPr id="11" name="TextBox 10"/>
          <p:cNvSpPr txBox="1"/>
          <p:nvPr/>
        </p:nvSpPr>
        <p:spPr>
          <a:xfrm>
            <a:off x="701040" y="3749039"/>
            <a:ext cx="3200400" cy="533400"/>
          </a:xfrm>
          <a:prstGeom prst="rect">
            <a:avLst/>
          </a:prstGeom>
          <a:noFill/>
        </p:spPr>
        <p:txBody>
          <a:bodyPr wrap="none" lIns="0" rIns="0" tIns="0" bIns="0">
            <a:spAutoFit/>
          </a:bodyPr>
          <a:lstStyle/>
          <a:p>
            <a:pPr>
              <a:lnSpc>
                <a:spcPct val="118000"/>
              </a:lnSpc>
              <a:spcBef>
                <a:spcPts val="0"/>
              </a:spcBef>
              <a:spcAft>
                <a:spcPts val="0"/>
              </a:spcAft>
              <a:defRPr sz="1380" b="0">
                <a:solidFill>
                  <a:srgbClr val="576875"/>
                </a:solidFill>
                <a:latin typeface="Nimbus Sans"/>
              </a:defRPr>
            </a:pPr>
            <a:r>
              <a:t>Students have useful abilities</a:t>
            </a:r>
          </a:p>
          <a:p>
            <a:pPr>
              <a:lnSpc>
                <a:spcPct val="118000"/>
              </a:lnSpc>
              <a:spcBef>
                <a:spcPts val="0"/>
              </a:spcBef>
              <a:spcAft>
                <a:spcPts val="0"/>
              </a:spcAft>
              <a:defRPr sz="1380" b="0">
                <a:solidFill>
                  <a:srgbClr val="576875"/>
                </a:solidFill>
                <a:latin typeface="Nimbus Sans"/>
              </a:defRPr>
            </a:pPr>
            <a:r>
              <a:t>beyond their course or branch.</a:t>
            </a:r>
          </a:p>
        </p:txBody>
      </p:sp>
      <p:sp>
        <p:nvSpPr>
          <p:cNvPr id="12" name="Rounded Rectangle 11"/>
          <p:cNvSpPr/>
          <p:nvPr/>
        </p:nvSpPr>
        <p:spPr>
          <a:xfrm>
            <a:off x="4312920" y="2247900"/>
            <a:ext cx="3566160" cy="25146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476500"/>
            <a:ext cx="3048000" cy="731520"/>
          </a:xfrm>
          <a:prstGeom prst="rect">
            <a:avLst/>
          </a:prstGeom>
          <a:noFill/>
        </p:spPr>
        <p:txBody>
          <a:bodyPr wrap="none" lIns="0" rIns="0" tIns="0" bIns="0">
            <a:spAutoFit/>
          </a:bodyPr>
          <a:lstStyle/>
          <a:p>
            <a:pPr>
              <a:lnSpc>
                <a:spcPct val="118000"/>
              </a:lnSpc>
              <a:spcBef>
                <a:spcPts val="0"/>
              </a:spcBef>
              <a:spcAft>
                <a:spcPts val="0"/>
              </a:spcAft>
              <a:defRPr sz="4079" b="0">
                <a:solidFill>
                  <a:srgbClr val="841329"/>
                </a:solidFill>
                <a:latin typeface="Nimbus Roman"/>
              </a:defRPr>
            </a:pPr>
            <a:r>
              <a:t>02</a:t>
            </a:r>
          </a:p>
        </p:txBody>
      </p:sp>
      <p:sp>
        <p:nvSpPr>
          <p:cNvPr id="14" name="TextBox 13"/>
          <p:cNvSpPr txBox="1"/>
          <p:nvPr/>
        </p:nvSpPr>
        <p:spPr>
          <a:xfrm>
            <a:off x="4526280" y="3291840"/>
            <a:ext cx="3200400" cy="381000"/>
          </a:xfrm>
          <a:prstGeom prst="rect">
            <a:avLst/>
          </a:prstGeom>
          <a:noFill/>
        </p:spPr>
        <p:txBody>
          <a:bodyPr wrap="none" lIns="0" rIns="0" tIns="0" bIns="0">
            <a:spAutoFit/>
          </a:bodyPr>
          <a:lstStyle/>
          <a:p>
            <a:pPr>
              <a:lnSpc>
                <a:spcPct val="118000"/>
              </a:lnSpc>
              <a:spcBef>
                <a:spcPts val="0"/>
              </a:spcBef>
              <a:spcAft>
                <a:spcPts val="0"/>
              </a:spcAft>
              <a:defRPr sz="1739" b="1">
                <a:solidFill>
                  <a:srgbClr val="19313D"/>
                </a:solidFill>
                <a:latin typeface="Nimbus Sans"/>
              </a:defRPr>
            </a:pPr>
            <a:r>
              <a:t>Discovery takes effort</a:t>
            </a:r>
          </a:p>
        </p:txBody>
      </p:sp>
      <p:sp>
        <p:nvSpPr>
          <p:cNvPr id="15" name="TextBox 14"/>
          <p:cNvSpPr txBox="1"/>
          <p:nvPr/>
        </p:nvSpPr>
        <p:spPr>
          <a:xfrm>
            <a:off x="4526280" y="3749039"/>
            <a:ext cx="3200400" cy="533400"/>
          </a:xfrm>
          <a:prstGeom prst="rect">
            <a:avLst/>
          </a:prstGeom>
          <a:noFill/>
        </p:spPr>
        <p:txBody>
          <a:bodyPr wrap="none" lIns="0" rIns="0" tIns="0" bIns="0">
            <a:spAutoFit/>
          </a:bodyPr>
          <a:lstStyle/>
          <a:p>
            <a:pPr>
              <a:lnSpc>
                <a:spcPct val="118000"/>
              </a:lnSpc>
              <a:spcBef>
                <a:spcPts val="0"/>
              </a:spcBef>
              <a:spcAft>
                <a:spcPts val="0"/>
              </a:spcAft>
              <a:defRPr sz="1380" b="0">
                <a:solidFill>
                  <a:srgbClr val="576875"/>
                </a:solidFill>
                <a:latin typeface="Nimbus Sans"/>
              </a:defRPr>
            </a:pPr>
            <a:r>
              <a:t>Finding a suitable learning partner</a:t>
            </a:r>
          </a:p>
          <a:p>
            <a:pPr>
              <a:lnSpc>
                <a:spcPct val="118000"/>
              </a:lnSpc>
              <a:spcBef>
                <a:spcPts val="0"/>
              </a:spcBef>
              <a:spcAft>
                <a:spcPts val="0"/>
              </a:spcAft>
              <a:defRPr sz="1380" b="0">
                <a:solidFill>
                  <a:srgbClr val="576875"/>
                </a:solidFill>
                <a:latin typeface="Nimbus Sans"/>
              </a:defRPr>
            </a:pPr>
            <a:r>
              <a:t>often depends on existing friends.</a:t>
            </a:r>
          </a:p>
        </p:txBody>
      </p:sp>
      <p:sp>
        <p:nvSpPr>
          <p:cNvPr id="16" name="Rounded Rectangle 15"/>
          <p:cNvSpPr/>
          <p:nvPr/>
        </p:nvSpPr>
        <p:spPr>
          <a:xfrm>
            <a:off x="8138160" y="2247900"/>
            <a:ext cx="3566160" cy="25146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1520" y="2476500"/>
            <a:ext cx="3048000" cy="731520"/>
          </a:xfrm>
          <a:prstGeom prst="rect">
            <a:avLst/>
          </a:prstGeom>
          <a:noFill/>
        </p:spPr>
        <p:txBody>
          <a:bodyPr wrap="none" lIns="0" rIns="0" tIns="0" bIns="0">
            <a:spAutoFit/>
          </a:bodyPr>
          <a:lstStyle/>
          <a:p>
            <a:pPr>
              <a:lnSpc>
                <a:spcPct val="118000"/>
              </a:lnSpc>
              <a:spcBef>
                <a:spcPts val="0"/>
              </a:spcBef>
              <a:spcAft>
                <a:spcPts val="0"/>
              </a:spcAft>
              <a:defRPr sz="4079" b="0">
                <a:solidFill>
                  <a:srgbClr val="841329"/>
                </a:solidFill>
                <a:latin typeface="Nimbus Roman"/>
              </a:defRPr>
            </a:pPr>
            <a:r>
              <a:t>03</a:t>
            </a:r>
          </a:p>
        </p:txBody>
      </p:sp>
      <p:sp>
        <p:nvSpPr>
          <p:cNvPr id="18" name="TextBox 17"/>
          <p:cNvSpPr txBox="1"/>
          <p:nvPr/>
        </p:nvSpPr>
        <p:spPr>
          <a:xfrm>
            <a:off x="8351520" y="3291840"/>
            <a:ext cx="3200400" cy="381000"/>
          </a:xfrm>
          <a:prstGeom prst="rect">
            <a:avLst/>
          </a:prstGeom>
          <a:noFill/>
        </p:spPr>
        <p:txBody>
          <a:bodyPr wrap="none" lIns="0" rIns="0" tIns="0" bIns="0">
            <a:spAutoFit/>
          </a:bodyPr>
          <a:lstStyle/>
          <a:p>
            <a:pPr>
              <a:lnSpc>
                <a:spcPct val="118000"/>
              </a:lnSpc>
              <a:spcBef>
                <a:spcPts val="0"/>
              </a:spcBef>
              <a:spcAft>
                <a:spcPts val="0"/>
              </a:spcAft>
              <a:defRPr sz="1739" b="1">
                <a:solidFill>
                  <a:srgbClr val="19313D"/>
                </a:solidFill>
                <a:latin typeface="Nimbus Sans"/>
              </a:defRPr>
            </a:pPr>
            <a:r>
              <a:t>Exchange creates value</a:t>
            </a:r>
          </a:p>
        </p:txBody>
      </p:sp>
      <p:sp>
        <p:nvSpPr>
          <p:cNvPr id="19" name="TextBox 18"/>
          <p:cNvSpPr txBox="1"/>
          <p:nvPr/>
        </p:nvSpPr>
        <p:spPr>
          <a:xfrm>
            <a:off x="8351520" y="3749039"/>
            <a:ext cx="3200400" cy="533400"/>
          </a:xfrm>
          <a:prstGeom prst="rect">
            <a:avLst/>
          </a:prstGeom>
          <a:noFill/>
        </p:spPr>
        <p:txBody>
          <a:bodyPr wrap="none" lIns="0" rIns="0" tIns="0" bIns="0">
            <a:spAutoFit/>
          </a:bodyPr>
          <a:lstStyle/>
          <a:p>
            <a:pPr>
              <a:lnSpc>
                <a:spcPct val="118000"/>
              </a:lnSpc>
              <a:spcBef>
                <a:spcPts val="0"/>
              </a:spcBef>
              <a:spcAft>
                <a:spcPts val="0"/>
              </a:spcAft>
              <a:defRPr sz="1380" b="0">
                <a:solidFill>
                  <a:srgbClr val="576875"/>
                </a:solidFill>
                <a:latin typeface="Nimbus Sans"/>
              </a:defRPr>
            </a:pPr>
            <a:r>
              <a:t>Each student can contribute</a:t>
            </a:r>
          </a:p>
          <a:p>
            <a:pPr>
              <a:lnSpc>
                <a:spcPct val="118000"/>
              </a:lnSpc>
              <a:spcBef>
                <a:spcPts val="0"/>
              </a:spcBef>
              <a:spcAft>
                <a:spcPts val="0"/>
              </a:spcAft>
              <a:defRPr sz="1380" b="0">
                <a:solidFill>
                  <a:srgbClr val="576875"/>
                </a:solidFill>
                <a:latin typeface="Nimbus Sans"/>
              </a:defRPr>
            </a:pPr>
            <a:r>
              <a:t>and learn from someone else.</a:t>
            </a:r>
          </a:p>
        </p:txBody>
      </p:sp>
      <p:sp>
        <p:nvSpPr>
          <p:cNvPr id="20" name="Rounded Rectangle 19"/>
          <p:cNvSpPr/>
          <p:nvPr/>
        </p:nvSpPr>
        <p:spPr>
          <a:xfrm>
            <a:off x="487680" y="5143500"/>
            <a:ext cx="11216640" cy="800100"/>
          </a:xfrm>
          <a:prstGeom prst="roundRect">
            <a:avLst>
              <a:gd name="adj" fmla="val 12000"/>
            </a:avLst>
          </a:prstGeom>
          <a:solidFill>
            <a:srgbClr val="005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5349240"/>
            <a:ext cx="17526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CFE8DF"/>
                </a:solidFill>
                <a:latin typeface="Nimbus Sans"/>
              </a:defRPr>
            </a:pPr>
            <a:r>
              <a:t>DESIGN GOAL</a:t>
            </a:r>
          </a:p>
        </p:txBody>
      </p:sp>
      <p:sp>
        <p:nvSpPr>
          <p:cNvPr id="22" name="TextBox 21"/>
          <p:cNvSpPr txBox="1"/>
          <p:nvPr/>
        </p:nvSpPr>
        <p:spPr>
          <a:xfrm>
            <a:off x="2590800" y="5364480"/>
            <a:ext cx="8763000" cy="403860"/>
          </a:xfrm>
          <a:prstGeom prst="rect">
            <a:avLst/>
          </a:prstGeom>
          <a:noFill/>
        </p:spPr>
        <p:txBody>
          <a:bodyPr wrap="none" lIns="0" rIns="0" tIns="0" bIns="0">
            <a:spAutoFit/>
          </a:bodyPr>
          <a:lstStyle/>
          <a:p>
            <a:pPr>
              <a:lnSpc>
                <a:spcPct val="118000"/>
              </a:lnSpc>
              <a:spcBef>
                <a:spcPts val="0"/>
              </a:spcBef>
              <a:spcAft>
                <a:spcPts val="0"/>
              </a:spcAft>
              <a:defRPr sz="1920" b="0">
                <a:solidFill>
                  <a:srgbClr val="F8F6F0"/>
                </a:solidFill>
                <a:latin typeface="Nimbus Sans"/>
              </a:defRPr>
            </a:pPr>
            <a:r>
              <a:t>Make the right peer easier to discover and approach.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005348"/>
                </a:solidFill>
                <a:latin typeface="Nimbus Sans"/>
              </a:defRPr>
            </a:pPr>
            <a:r>
              <a:t>03 / 12</a:t>
            </a:r>
          </a:p>
        </p:txBody>
      </p:sp>
      <p:sp>
        <p:nvSpPr>
          <p:cNvPr id="4" name="Rectangle 3"/>
          <p:cNvSpPr/>
          <p:nvPr/>
        </p:nvSpPr>
        <p:spPr>
          <a:xfrm>
            <a:off x="487680" y="579120"/>
            <a:ext cx="11216640" cy="15240"/>
          </a:xfrm>
          <a:prstGeom prst="rect">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02 / THE MATCHING IDEA</a:t>
            </a:r>
          </a:p>
        </p:txBody>
      </p:sp>
      <p:sp>
        <p:nvSpPr>
          <p:cNvPr id="6" name="TextBox 5"/>
          <p:cNvSpPr txBox="1"/>
          <p:nvPr/>
        </p:nvSpPr>
        <p:spPr>
          <a:xfrm>
            <a:off x="487680" y="1143000"/>
            <a:ext cx="110490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19313D"/>
                </a:solidFill>
                <a:latin typeface="Nimbus Sans"/>
              </a:defRPr>
            </a:pPr>
            <a:r>
              <a:t>Two students. Two goals. One useful exchange.</a:t>
            </a:r>
          </a:p>
        </p:txBody>
      </p:sp>
      <p:sp>
        <p:nvSpPr>
          <p:cNvPr id="7" name="TextBox 6"/>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005348"/>
                </a:solidFill>
                <a:latin typeface="Nimbus Sans"/>
              </a:defRPr>
            </a:pPr>
            <a:r>
              <a:t>CAMPUS CONNECTIONS, BUILT AROUND SKILLS</a:t>
            </a:r>
          </a:p>
        </p:txBody>
      </p:sp>
      <p:sp>
        <p:nvSpPr>
          <p:cNvPr id="8" name="Rounded Rectangle 7"/>
          <p:cNvSpPr/>
          <p:nvPr/>
        </p:nvSpPr>
        <p:spPr>
          <a:xfrm>
            <a:off x="487680" y="2286000"/>
            <a:ext cx="4343400" cy="28194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 y="2545080"/>
            <a:ext cx="3733799" cy="510540"/>
          </a:xfrm>
          <a:prstGeom prst="rect">
            <a:avLst/>
          </a:prstGeom>
          <a:noFill/>
        </p:spPr>
        <p:txBody>
          <a:bodyPr wrap="none" lIns="0" rIns="0" tIns="0" bIns="0">
            <a:spAutoFit/>
          </a:bodyPr>
          <a:lstStyle/>
          <a:p>
            <a:pPr>
              <a:lnSpc>
                <a:spcPct val="118000"/>
              </a:lnSpc>
              <a:spcBef>
                <a:spcPts val="0"/>
              </a:spcBef>
              <a:spcAft>
                <a:spcPts val="0"/>
              </a:spcAft>
              <a:defRPr sz="2640" b="1">
                <a:solidFill>
                  <a:srgbClr val="19313D"/>
                </a:solidFill>
                <a:latin typeface="Nimbus Sans"/>
              </a:defRPr>
            </a:pPr>
            <a:r>
              <a:t>Dheeraj</a:t>
            </a:r>
          </a:p>
        </p:txBody>
      </p:sp>
      <p:sp>
        <p:nvSpPr>
          <p:cNvPr id="10" name="TextBox 9"/>
          <p:cNvSpPr txBox="1"/>
          <p:nvPr/>
        </p:nvSpPr>
        <p:spPr>
          <a:xfrm>
            <a:off x="762000" y="3246120"/>
            <a:ext cx="3733799"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CAN TEACH</a:t>
            </a:r>
          </a:p>
        </p:txBody>
      </p:sp>
      <p:sp>
        <p:nvSpPr>
          <p:cNvPr id="11" name="TextBox 10"/>
          <p:cNvSpPr txBox="1"/>
          <p:nvPr/>
        </p:nvSpPr>
        <p:spPr>
          <a:xfrm>
            <a:off x="762000" y="3528060"/>
            <a:ext cx="3733799" cy="434340"/>
          </a:xfrm>
          <a:prstGeom prst="rect">
            <a:avLst/>
          </a:prstGeom>
          <a:noFill/>
        </p:spPr>
        <p:txBody>
          <a:bodyPr wrap="none" lIns="0" rIns="0" tIns="0" bIns="0">
            <a:spAutoFit/>
          </a:bodyPr>
          <a:lstStyle/>
          <a:p>
            <a:pPr>
              <a:lnSpc>
                <a:spcPct val="118000"/>
              </a:lnSpc>
              <a:spcBef>
                <a:spcPts val="0"/>
              </a:spcBef>
              <a:spcAft>
                <a:spcPts val="0"/>
              </a:spcAft>
              <a:defRPr sz="2100" b="0">
                <a:solidFill>
                  <a:srgbClr val="005348"/>
                </a:solidFill>
                <a:latin typeface="Nimbus Sans"/>
              </a:defRPr>
            </a:pPr>
            <a:r>
              <a:t>Flutter</a:t>
            </a:r>
          </a:p>
        </p:txBody>
      </p:sp>
      <p:sp>
        <p:nvSpPr>
          <p:cNvPr id="12" name="TextBox 11"/>
          <p:cNvSpPr txBox="1"/>
          <p:nvPr/>
        </p:nvSpPr>
        <p:spPr>
          <a:xfrm>
            <a:off x="762000" y="4114800"/>
            <a:ext cx="3733799"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WANTS TO LEARN</a:t>
            </a:r>
          </a:p>
        </p:txBody>
      </p:sp>
      <p:sp>
        <p:nvSpPr>
          <p:cNvPr id="13" name="TextBox 12"/>
          <p:cNvSpPr txBox="1"/>
          <p:nvPr/>
        </p:nvSpPr>
        <p:spPr>
          <a:xfrm>
            <a:off x="762000" y="4396740"/>
            <a:ext cx="3733799" cy="434340"/>
          </a:xfrm>
          <a:prstGeom prst="rect">
            <a:avLst/>
          </a:prstGeom>
          <a:noFill/>
        </p:spPr>
        <p:txBody>
          <a:bodyPr wrap="none" lIns="0" rIns="0" tIns="0" bIns="0">
            <a:spAutoFit/>
          </a:bodyPr>
          <a:lstStyle/>
          <a:p>
            <a:pPr>
              <a:lnSpc>
                <a:spcPct val="118000"/>
              </a:lnSpc>
              <a:spcBef>
                <a:spcPts val="0"/>
              </a:spcBef>
              <a:spcAft>
                <a:spcPts val="0"/>
              </a:spcAft>
              <a:defRPr sz="2100" b="0">
                <a:solidFill>
                  <a:srgbClr val="841329"/>
                </a:solidFill>
                <a:latin typeface="Nimbus Sans"/>
              </a:defRPr>
            </a:pPr>
            <a:r>
              <a:t>UI/UX Design</a:t>
            </a:r>
          </a:p>
        </p:txBody>
      </p:sp>
      <p:sp>
        <p:nvSpPr>
          <p:cNvPr id="14" name="Rounded Rectangle 13"/>
          <p:cNvSpPr/>
          <p:nvPr/>
        </p:nvSpPr>
        <p:spPr>
          <a:xfrm>
            <a:off x="7360920" y="2286000"/>
            <a:ext cx="4343400" cy="28194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2545080"/>
            <a:ext cx="3733799" cy="510540"/>
          </a:xfrm>
          <a:prstGeom prst="rect">
            <a:avLst/>
          </a:prstGeom>
          <a:noFill/>
        </p:spPr>
        <p:txBody>
          <a:bodyPr wrap="none" lIns="0" rIns="0" tIns="0" bIns="0">
            <a:spAutoFit/>
          </a:bodyPr>
          <a:lstStyle/>
          <a:p>
            <a:pPr>
              <a:lnSpc>
                <a:spcPct val="118000"/>
              </a:lnSpc>
              <a:spcBef>
                <a:spcPts val="0"/>
              </a:spcBef>
              <a:spcAft>
                <a:spcPts val="0"/>
              </a:spcAft>
              <a:defRPr sz="2640" b="1">
                <a:solidFill>
                  <a:srgbClr val="19313D"/>
                </a:solidFill>
                <a:latin typeface="Nimbus Sans"/>
              </a:defRPr>
            </a:pPr>
            <a:r>
              <a:t>Swara</a:t>
            </a:r>
          </a:p>
        </p:txBody>
      </p:sp>
      <p:sp>
        <p:nvSpPr>
          <p:cNvPr id="16" name="TextBox 15"/>
          <p:cNvSpPr txBox="1"/>
          <p:nvPr/>
        </p:nvSpPr>
        <p:spPr>
          <a:xfrm>
            <a:off x="7635240" y="3246120"/>
            <a:ext cx="3733799"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CAN TEACH</a:t>
            </a:r>
          </a:p>
        </p:txBody>
      </p:sp>
      <p:sp>
        <p:nvSpPr>
          <p:cNvPr id="17" name="TextBox 16"/>
          <p:cNvSpPr txBox="1"/>
          <p:nvPr/>
        </p:nvSpPr>
        <p:spPr>
          <a:xfrm>
            <a:off x="7635240" y="3528060"/>
            <a:ext cx="3733799" cy="434340"/>
          </a:xfrm>
          <a:prstGeom prst="rect">
            <a:avLst/>
          </a:prstGeom>
          <a:noFill/>
        </p:spPr>
        <p:txBody>
          <a:bodyPr wrap="none" lIns="0" rIns="0" tIns="0" bIns="0">
            <a:spAutoFit/>
          </a:bodyPr>
          <a:lstStyle/>
          <a:p>
            <a:pPr>
              <a:lnSpc>
                <a:spcPct val="118000"/>
              </a:lnSpc>
              <a:spcBef>
                <a:spcPts val="0"/>
              </a:spcBef>
              <a:spcAft>
                <a:spcPts val="0"/>
              </a:spcAft>
              <a:defRPr sz="2100" b="0">
                <a:solidFill>
                  <a:srgbClr val="005348"/>
                </a:solidFill>
                <a:latin typeface="Nimbus Sans"/>
              </a:defRPr>
            </a:pPr>
            <a:r>
              <a:t>UI/UX Design</a:t>
            </a:r>
          </a:p>
        </p:txBody>
      </p:sp>
      <p:sp>
        <p:nvSpPr>
          <p:cNvPr id="18" name="TextBox 17"/>
          <p:cNvSpPr txBox="1"/>
          <p:nvPr/>
        </p:nvSpPr>
        <p:spPr>
          <a:xfrm>
            <a:off x="7635240" y="4114800"/>
            <a:ext cx="3733799"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WANTS TO LEARN</a:t>
            </a:r>
          </a:p>
        </p:txBody>
      </p:sp>
      <p:sp>
        <p:nvSpPr>
          <p:cNvPr id="19" name="TextBox 18"/>
          <p:cNvSpPr txBox="1"/>
          <p:nvPr/>
        </p:nvSpPr>
        <p:spPr>
          <a:xfrm>
            <a:off x="7635240" y="4396740"/>
            <a:ext cx="3733799" cy="434340"/>
          </a:xfrm>
          <a:prstGeom prst="rect">
            <a:avLst/>
          </a:prstGeom>
          <a:noFill/>
        </p:spPr>
        <p:txBody>
          <a:bodyPr wrap="none" lIns="0" rIns="0" tIns="0" bIns="0">
            <a:spAutoFit/>
          </a:bodyPr>
          <a:lstStyle/>
          <a:p>
            <a:pPr>
              <a:lnSpc>
                <a:spcPct val="118000"/>
              </a:lnSpc>
              <a:spcBef>
                <a:spcPts val="0"/>
              </a:spcBef>
              <a:spcAft>
                <a:spcPts val="0"/>
              </a:spcAft>
              <a:defRPr sz="2100" b="0">
                <a:solidFill>
                  <a:srgbClr val="841329"/>
                </a:solidFill>
                <a:latin typeface="Nimbus Sans"/>
              </a:defRPr>
            </a:pPr>
            <a:r>
              <a:t>Flutter</a:t>
            </a:r>
          </a:p>
        </p:txBody>
      </p:sp>
      <p:sp>
        <p:nvSpPr>
          <p:cNvPr id="20" name="TextBox 19"/>
          <p:cNvSpPr txBox="1"/>
          <p:nvPr/>
        </p:nvSpPr>
        <p:spPr>
          <a:xfrm>
            <a:off x="5303520" y="3025140"/>
            <a:ext cx="1676400" cy="1127760"/>
          </a:xfrm>
          <a:prstGeom prst="rect">
            <a:avLst/>
          </a:prstGeom>
          <a:noFill/>
        </p:spPr>
        <p:txBody>
          <a:bodyPr wrap="none" lIns="0" rIns="0" tIns="0" bIns="0">
            <a:spAutoFit/>
          </a:bodyPr>
          <a:lstStyle/>
          <a:p>
            <a:pPr>
              <a:lnSpc>
                <a:spcPct val="118000"/>
              </a:lnSpc>
              <a:spcBef>
                <a:spcPts val="0"/>
              </a:spcBef>
              <a:spcAft>
                <a:spcPts val="0"/>
              </a:spcAft>
              <a:defRPr sz="6720" b="0">
                <a:solidFill>
                  <a:srgbClr val="005348"/>
                </a:solidFill>
                <a:latin typeface="Nimbus Sans"/>
              </a:defRPr>
            </a:pPr>
            <a:r>
              <a:t>↔</a:t>
            </a:r>
          </a:p>
        </p:txBody>
      </p:sp>
      <p:sp>
        <p:nvSpPr>
          <p:cNvPr id="21" name="TextBox 20"/>
          <p:cNvSpPr txBox="1"/>
          <p:nvPr/>
        </p:nvSpPr>
        <p:spPr>
          <a:xfrm>
            <a:off x="5234940" y="4076699"/>
            <a:ext cx="1828800" cy="304800"/>
          </a:xfrm>
          <a:prstGeom prst="rect">
            <a:avLst/>
          </a:prstGeom>
          <a:noFill/>
        </p:spPr>
        <p:txBody>
          <a:bodyPr wrap="none" lIns="0" rIns="0" tIns="0" bIns="0">
            <a:spAutoFit/>
          </a:bodyPr>
          <a:lstStyle/>
          <a:p>
            <a:pPr>
              <a:lnSpc>
                <a:spcPct val="118000"/>
              </a:lnSpc>
              <a:spcBef>
                <a:spcPts val="0"/>
              </a:spcBef>
              <a:spcAft>
                <a:spcPts val="0"/>
              </a:spcAft>
              <a:defRPr sz="1260" b="1">
                <a:solidFill>
                  <a:srgbClr val="005348"/>
                </a:solidFill>
                <a:latin typeface="Nimbus Sans"/>
              </a:defRPr>
            </a:pPr>
            <a:r>
              <a:t>SAME CAMPUS</a:t>
            </a:r>
          </a:p>
        </p:txBody>
      </p:sp>
      <p:sp>
        <p:nvSpPr>
          <p:cNvPr id="22" name="Rounded Rectangle 21"/>
          <p:cNvSpPr/>
          <p:nvPr/>
        </p:nvSpPr>
        <p:spPr>
          <a:xfrm>
            <a:off x="1981199" y="5501640"/>
            <a:ext cx="8229600" cy="457200"/>
          </a:xfrm>
          <a:prstGeom prst="roundRect">
            <a:avLst>
              <a:gd name="adj" fmla="val 12000"/>
            </a:avLst>
          </a:prstGeom>
          <a:solidFill>
            <a:srgbClr val="005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5631180"/>
            <a:ext cx="7772400" cy="342900"/>
          </a:xfrm>
          <a:prstGeom prst="rect">
            <a:avLst/>
          </a:prstGeom>
          <a:noFill/>
        </p:spPr>
        <p:txBody>
          <a:bodyPr wrap="none" lIns="0" rIns="0" tIns="0" bIns="0">
            <a:spAutoFit/>
          </a:bodyPr>
          <a:lstStyle/>
          <a:p>
            <a:pPr>
              <a:lnSpc>
                <a:spcPct val="118000"/>
              </a:lnSpc>
              <a:spcBef>
                <a:spcPts val="0"/>
              </a:spcBef>
              <a:spcAft>
                <a:spcPts val="0"/>
              </a:spcAft>
              <a:defRPr sz="1500" b="0">
                <a:solidFill>
                  <a:srgbClr val="F8F6F0"/>
                </a:solidFill>
                <a:latin typeface="Nimbus Sans"/>
              </a:defRPr>
            </a:pPr>
            <a:r>
              <a:t>Proposed logic: campus eligibility + reciprocal skill interests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005348"/>
                </a:solidFill>
                <a:latin typeface="Nimbus Sans"/>
              </a:defRPr>
            </a:pPr>
            <a:r>
              <a:t>04 / 12</a:t>
            </a:r>
          </a:p>
        </p:txBody>
      </p:sp>
      <p:sp>
        <p:nvSpPr>
          <p:cNvPr id="4" name="Rectangle 3"/>
          <p:cNvSpPr/>
          <p:nvPr/>
        </p:nvSpPr>
        <p:spPr>
          <a:xfrm>
            <a:off x="487680" y="579120"/>
            <a:ext cx="11216640" cy="15240"/>
          </a:xfrm>
          <a:prstGeom prst="rect">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03 / VISUAL LANGUAGE</a:t>
            </a:r>
          </a:p>
        </p:txBody>
      </p:sp>
      <p:sp>
        <p:nvSpPr>
          <p:cNvPr id="6" name="TextBox 5"/>
          <p:cNvSpPr txBox="1"/>
          <p:nvPr/>
        </p:nvSpPr>
        <p:spPr>
          <a:xfrm>
            <a:off x="487680" y="1143000"/>
            <a:ext cx="110490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19313D"/>
                </a:solidFill>
                <a:latin typeface="Nimbus Sans"/>
              </a:defRPr>
            </a:pPr>
            <a:r>
              <a:t>Warm, credible, unmistakably SkillSwap.</a:t>
            </a:r>
          </a:p>
        </p:txBody>
      </p:sp>
      <p:sp>
        <p:nvSpPr>
          <p:cNvPr id="7" name="TextBox 6"/>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005348"/>
                </a:solidFill>
                <a:latin typeface="Nimbus Sans"/>
              </a:defRPr>
            </a:pPr>
            <a:r>
              <a:t>CAMPUS CONNECTIONS, BUILT AROUND SKILLS</a:t>
            </a:r>
          </a:p>
        </p:txBody>
      </p:sp>
      <p:sp>
        <p:nvSpPr>
          <p:cNvPr id="8" name="Rounded Rectangle 7"/>
          <p:cNvSpPr/>
          <p:nvPr/>
        </p:nvSpPr>
        <p:spPr>
          <a:xfrm>
            <a:off x="487680" y="2110740"/>
            <a:ext cx="2667000" cy="1097280"/>
          </a:xfrm>
          <a:prstGeom prst="roundRect">
            <a:avLst>
              <a:gd name="adj" fmla="val 12000"/>
            </a:avLst>
          </a:prstGeom>
          <a:solidFill>
            <a:srgbClr val="841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5320" y="2476500"/>
            <a:ext cx="2286000" cy="350520"/>
          </a:xfrm>
          <a:prstGeom prst="rect">
            <a:avLst/>
          </a:prstGeom>
          <a:noFill/>
        </p:spPr>
        <p:txBody>
          <a:bodyPr wrap="none" lIns="0" rIns="0" tIns="0" bIns="0">
            <a:spAutoFit/>
          </a:bodyPr>
          <a:lstStyle/>
          <a:p>
            <a:pPr>
              <a:lnSpc>
                <a:spcPct val="118000"/>
              </a:lnSpc>
              <a:spcBef>
                <a:spcPts val="0"/>
              </a:spcBef>
              <a:spcAft>
                <a:spcPts val="0"/>
              </a:spcAft>
              <a:defRPr sz="1560" b="1">
                <a:solidFill>
                  <a:srgbClr val="FFFFFF"/>
                </a:solidFill>
                <a:latin typeface="Nimbus Sans"/>
              </a:defRPr>
            </a:pPr>
            <a:r>
              <a:t>#841329</a:t>
            </a:r>
          </a:p>
        </p:txBody>
      </p:sp>
      <p:sp>
        <p:nvSpPr>
          <p:cNvPr id="10" name="TextBox 9"/>
          <p:cNvSpPr txBox="1"/>
          <p:nvPr/>
        </p:nvSpPr>
        <p:spPr>
          <a:xfrm>
            <a:off x="487680" y="3368040"/>
            <a:ext cx="2667000" cy="381000"/>
          </a:xfrm>
          <a:prstGeom prst="rect">
            <a:avLst/>
          </a:prstGeom>
          <a:noFill/>
        </p:spPr>
        <p:txBody>
          <a:bodyPr wrap="none" lIns="0" rIns="0" tIns="0" bIns="0">
            <a:spAutoFit/>
          </a:bodyPr>
          <a:lstStyle/>
          <a:p>
            <a:pPr>
              <a:lnSpc>
                <a:spcPct val="118000"/>
              </a:lnSpc>
              <a:spcBef>
                <a:spcPts val="0"/>
              </a:spcBef>
              <a:spcAft>
                <a:spcPts val="0"/>
              </a:spcAft>
              <a:defRPr sz="1739" b="1">
                <a:solidFill>
                  <a:srgbClr val="19313D"/>
                </a:solidFill>
                <a:latin typeface="Nimbus Sans"/>
              </a:defRPr>
            </a:pPr>
            <a:r>
              <a:t>Burgundy</a:t>
            </a:r>
          </a:p>
        </p:txBody>
      </p:sp>
      <p:sp>
        <p:nvSpPr>
          <p:cNvPr id="11" name="TextBox 10"/>
          <p:cNvSpPr txBox="1"/>
          <p:nvPr/>
        </p:nvSpPr>
        <p:spPr>
          <a:xfrm>
            <a:off x="487680" y="3672840"/>
            <a:ext cx="2667000" cy="312420"/>
          </a:xfrm>
          <a:prstGeom prst="rect">
            <a:avLst/>
          </a:prstGeom>
          <a:noFill/>
        </p:spPr>
        <p:txBody>
          <a:bodyPr wrap="none" lIns="0" rIns="0" tIns="0" bIns="0">
            <a:spAutoFit/>
          </a:bodyPr>
          <a:lstStyle/>
          <a:p>
            <a:pPr>
              <a:lnSpc>
                <a:spcPct val="118000"/>
              </a:lnSpc>
              <a:spcBef>
                <a:spcPts val="0"/>
              </a:spcBef>
              <a:spcAft>
                <a:spcPts val="0"/>
              </a:spcAft>
              <a:defRPr sz="1320" b="0">
                <a:solidFill>
                  <a:srgbClr val="576875"/>
                </a:solidFill>
                <a:latin typeface="Nimbus Sans"/>
              </a:defRPr>
            </a:pPr>
            <a:r>
              <a:t>Primary actions</a:t>
            </a:r>
          </a:p>
        </p:txBody>
      </p:sp>
      <p:sp>
        <p:nvSpPr>
          <p:cNvPr id="12" name="Rounded Rectangle 11"/>
          <p:cNvSpPr/>
          <p:nvPr/>
        </p:nvSpPr>
        <p:spPr>
          <a:xfrm>
            <a:off x="3337560" y="2110740"/>
            <a:ext cx="2667000" cy="1097280"/>
          </a:xfrm>
          <a:prstGeom prst="roundRect">
            <a:avLst>
              <a:gd name="adj" fmla="val 12000"/>
            </a:avLst>
          </a:prstGeom>
          <a:solidFill>
            <a:srgbClr val="005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200" y="2476500"/>
            <a:ext cx="2286000" cy="350520"/>
          </a:xfrm>
          <a:prstGeom prst="rect">
            <a:avLst/>
          </a:prstGeom>
          <a:noFill/>
        </p:spPr>
        <p:txBody>
          <a:bodyPr wrap="none" lIns="0" rIns="0" tIns="0" bIns="0">
            <a:spAutoFit/>
          </a:bodyPr>
          <a:lstStyle/>
          <a:p>
            <a:pPr>
              <a:lnSpc>
                <a:spcPct val="118000"/>
              </a:lnSpc>
              <a:spcBef>
                <a:spcPts val="0"/>
              </a:spcBef>
              <a:spcAft>
                <a:spcPts val="0"/>
              </a:spcAft>
              <a:defRPr sz="1560" b="1">
                <a:solidFill>
                  <a:srgbClr val="FFFFFF"/>
                </a:solidFill>
                <a:latin typeface="Nimbus Sans"/>
              </a:defRPr>
            </a:pPr>
            <a:r>
              <a:t>#005348</a:t>
            </a:r>
          </a:p>
        </p:txBody>
      </p:sp>
      <p:sp>
        <p:nvSpPr>
          <p:cNvPr id="14" name="TextBox 13"/>
          <p:cNvSpPr txBox="1"/>
          <p:nvPr/>
        </p:nvSpPr>
        <p:spPr>
          <a:xfrm>
            <a:off x="3337560" y="3368040"/>
            <a:ext cx="2667000" cy="381000"/>
          </a:xfrm>
          <a:prstGeom prst="rect">
            <a:avLst/>
          </a:prstGeom>
          <a:noFill/>
        </p:spPr>
        <p:txBody>
          <a:bodyPr wrap="none" lIns="0" rIns="0" tIns="0" bIns="0">
            <a:spAutoFit/>
          </a:bodyPr>
          <a:lstStyle/>
          <a:p>
            <a:pPr>
              <a:lnSpc>
                <a:spcPct val="118000"/>
              </a:lnSpc>
              <a:spcBef>
                <a:spcPts val="0"/>
              </a:spcBef>
              <a:spcAft>
                <a:spcPts val="0"/>
              </a:spcAft>
              <a:defRPr sz="1739" b="1">
                <a:solidFill>
                  <a:srgbClr val="19313D"/>
                </a:solidFill>
                <a:latin typeface="Nimbus Sans"/>
              </a:defRPr>
            </a:pPr>
            <a:r>
              <a:t>Evergreen</a:t>
            </a:r>
          </a:p>
        </p:txBody>
      </p:sp>
      <p:sp>
        <p:nvSpPr>
          <p:cNvPr id="15" name="TextBox 14"/>
          <p:cNvSpPr txBox="1"/>
          <p:nvPr/>
        </p:nvSpPr>
        <p:spPr>
          <a:xfrm>
            <a:off x="3337560" y="3672840"/>
            <a:ext cx="2667000" cy="312420"/>
          </a:xfrm>
          <a:prstGeom prst="rect">
            <a:avLst/>
          </a:prstGeom>
          <a:noFill/>
        </p:spPr>
        <p:txBody>
          <a:bodyPr wrap="none" lIns="0" rIns="0" tIns="0" bIns="0">
            <a:spAutoFit/>
          </a:bodyPr>
          <a:lstStyle/>
          <a:p>
            <a:pPr>
              <a:lnSpc>
                <a:spcPct val="118000"/>
              </a:lnSpc>
              <a:spcBef>
                <a:spcPts val="0"/>
              </a:spcBef>
              <a:spcAft>
                <a:spcPts val="0"/>
              </a:spcAft>
              <a:defRPr sz="1320" b="0">
                <a:solidFill>
                  <a:srgbClr val="576875"/>
                </a:solidFill>
                <a:latin typeface="Nimbus Sans"/>
              </a:defRPr>
            </a:pPr>
            <a:r>
              <a:t>Skills and trust</a:t>
            </a:r>
          </a:p>
        </p:txBody>
      </p:sp>
      <p:sp>
        <p:nvSpPr>
          <p:cNvPr id="16" name="Rounded Rectangle 15"/>
          <p:cNvSpPr/>
          <p:nvPr/>
        </p:nvSpPr>
        <p:spPr>
          <a:xfrm>
            <a:off x="6187440" y="2110740"/>
            <a:ext cx="2667000" cy="1097280"/>
          </a:xfrm>
          <a:prstGeom prst="roundRect">
            <a:avLst>
              <a:gd name="adj" fmla="val 12000"/>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76500"/>
            <a:ext cx="2286000" cy="350520"/>
          </a:xfrm>
          <a:prstGeom prst="rect">
            <a:avLst/>
          </a:prstGeom>
          <a:noFill/>
        </p:spPr>
        <p:txBody>
          <a:bodyPr wrap="none" lIns="0" rIns="0" tIns="0" bIns="0">
            <a:spAutoFit/>
          </a:bodyPr>
          <a:lstStyle/>
          <a:p>
            <a:pPr>
              <a:lnSpc>
                <a:spcPct val="118000"/>
              </a:lnSpc>
              <a:spcBef>
                <a:spcPts val="0"/>
              </a:spcBef>
              <a:spcAft>
                <a:spcPts val="0"/>
              </a:spcAft>
              <a:defRPr sz="1560" b="1">
                <a:solidFill>
                  <a:srgbClr val="19313D"/>
                </a:solidFill>
                <a:latin typeface="Nimbus Sans"/>
              </a:defRPr>
            </a:pPr>
            <a:r>
              <a:t>#F8F6F0</a:t>
            </a:r>
          </a:p>
        </p:txBody>
      </p:sp>
      <p:sp>
        <p:nvSpPr>
          <p:cNvPr id="18" name="TextBox 17"/>
          <p:cNvSpPr txBox="1"/>
          <p:nvPr/>
        </p:nvSpPr>
        <p:spPr>
          <a:xfrm>
            <a:off x="6187440" y="3368040"/>
            <a:ext cx="2667000" cy="381000"/>
          </a:xfrm>
          <a:prstGeom prst="rect">
            <a:avLst/>
          </a:prstGeom>
          <a:noFill/>
        </p:spPr>
        <p:txBody>
          <a:bodyPr wrap="none" lIns="0" rIns="0" tIns="0" bIns="0">
            <a:spAutoFit/>
          </a:bodyPr>
          <a:lstStyle/>
          <a:p>
            <a:pPr>
              <a:lnSpc>
                <a:spcPct val="118000"/>
              </a:lnSpc>
              <a:spcBef>
                <a:spcPts val="0"/>
              </a:spcBef>
              <a:spcAft>
                <a:spcPts val="0"/>
              </a:spcAft>
              <a:defRPr sz="1739" b="1">
                <a:solidFill>
                  <a:srgbClr val="19313D"/>
                </a:solidFill>
                <a:latin typeface="Nimbus Sans"/>
              </a:defRPr>
            </a:pPr>
            <a:r>
              <a:t>Warm ivory</a:t>
            </a:r>
          </a:p>
        </p:txBody>
      </p:sp>
      <p:sp>
        <p:nvSpPr>
          <p:cNvPr id="19" name="TextBox 18"/>
          <p:cNvSpPr txBox="1"/>
          <p:nvPr/>
        </p:nvSpPr>
        <p:spPr>
          <a:xfrm>
            <a:off x="6187440" y="3672840"/>
            <a:ext cx="2667000" cy="312420"/>
          </a:xfrm>
          <a:prstGeom prst="rect">
            <a:avLst/>
          </a:prstGeom>
          <a:noFill/>
        </p:spPr>
        <p:txBody>
          <a:bodyPr wrap="none" lIns="0" rIns="0" tIns="0" bIns="0">
            <a:spAutoFit/>
          </a:bodyPr>
          <a:lstStyle/>
          <a:p>
            <a:pPr>
              <a:lnSpc>
                <a:spcPct val="118000"/>
              </a:lnSpc>
              <a:spcBef>
                <a:spcPts val="0"/>
              </a:spcBef>
              <a:spcAft>
                <a:spcPts val="0"/>
              </a:spcAft>
              <a:defRPr sz="1320" b="0">
                <a:solidFill>
                  <a:srgbClr val="576875"/>
                </a:solidFill>
                <a:latin typeface="Nimbus Sans"/>
              </a:defRPr>
            </a:pPr>
            <a:r>
              <a:t>Calm canvas</a:t>
            </a:r>
          </a:p>
        </p:txBody>
      </p:sp>
      <p:sp>
        <p:nvSpPr>
          <p:cNvPr id="20" name="Rounded Rectangle 19"/>
          <p:cNvSpPr/>
          <p:nvPr/>
        </p:nvSpPr>
        <p:spPr>
          <a:xfrm>
            <a:off x="9037320" y="2110740"/>
            <a:ext cx="2667000" cy="1097280"/>
          </a:xfrm>
          <a:prstGeom prst="roundRect">
            <a:avLst>
              <a:gd name="adj" fmla="val 12000"/>
            </a:avLst>
          </a:prstGeom>
          <a:solidFill>
            <a:srgbClr val="193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4960" y="2476500"/>
            <a:ext cx="2286000" cy="350520"/>
          </a:xfrm>
          <a:prstGeom prst="rect">
            <a:avLst/>
          </a:prstGeom>
          <a:noFill/>
        </p:spPr>
        <p:txBody>
          <a:bodyPr wrap="none" lIns="0" rIns="0" tIns="0" bIns="0">
            <a:spAutoFit/>
          </a:bodyPr>
          <a:lstStyle/>
          <a:p>
            <a:pPr>
              <a:lnSpc>
                <a:spcPct val="118000"/>
              </a:lnSpc>
              <a:spcBef>
                <a:spcPts val="0"/>
              </a:spcBef>
              <a:spcAft>
                <a:spcPts val="0"/>
              </a:spcAft>
              <a:defRPr sz="1560" b="1">
                <a:solidFill>
                  <a:srgbClr val="FFFFFF"/>
                </a:solidFill>
                <a:latin typeface="Nimbus Sans"/>
              </a:defRPr>
            </a:pPr>
            <a:r>
              <a:t>#19313D</a:t>
            </a:r>
          </a:p>
        </p:txBody>
      </p:sp>
      <p:sp>
        <p:nvSpPr>
          <p:cNvPr id="22" name="TextBox 21"/>
          <p:cNvSpPr txBox="1"/>
          <p:nvPr/>
        </p:nvSpPr>
        <p:spPr>
          <a:xfrm>
            <a:off x="9037320" y="3368040"/>
            <a:ext cx="2667000" cy="381000"/>
          </a:xfrm>
          <a:prstGeom prst="rect">
            <a:avLst/>
          </a:prstGeom>
          <a:noFill/>
        </p:spPr>
        <p:txBody>
          <a:bodyPr wrap="none" lIns="0" rIns="0" tIns="0" bIns="0">
            <a:spAutoFit/>
          </a:bodyPr>
          <a:lstStyle/>
          <a:p>
            <a:pPr>
              <a:lnSpc>
                <a:spcPct val="118000"/>
              </a:lnSpc>
              <a:spcBef>
                <a:spcPts val="0"/>
              </a:spcBef>
              <a:spcAft>
                <a:spcPts val="0"/>
              </a:spcAft>
              <a:defRPr sz="1739" b="1">
                <a:solidFill>
                  <a:srgbClr val="19313D"/>
                </a:solidFill>
                <a:latin typeface="Nimbus Sans"/>
              </a:defRPr>
            </a:pPr>
            <a:r>
              <a:t>Deep slate</a:t>
            </a:r>
          </a:p>
        </p:txBody>
      </p:sp>
      <p:sp>
        <p:nvSpPr>
          <p:cNvPr id="23" name="TextBox 22"/>
          <p:cNvSpPr txBox="1"/>
          <p:nvPr/>
        </p:nvSpPr>
        <p:spPr>
          <a:xfrm>
            <a:off x="9037320" y="3672840"/>
            <a:ext cx="2667000" cy="312420"/>
          </a:xfrm>
          <a:prstGeom prst="rect">
            <a:avLst/>
          </a:prstGeom>
          <a:noFill/>
        </p:spPr>
        <p:txBody>
          <a:bodyPr wrap="none" lIns="0" rIns="0" tIns="0" bIns="0">
            <a:spAutoFit/>
          </a:bodyPr>
          <a:lstStyle/>
          <a:p>
            <a:pPr>
              <a:lnSpc>
                <a:spcPct val="118000"/>
              </a:lnSpc>
              <a:spcBef>
                <a:spcPts val="0"/>
              </a:spcBef>
              <a:spcAft>
                <a:spcPts val="0"/>
              </a:spcAft>
              <a:defRPr sz="1320" b="0">
                <a:solidFill>
                  <a:srgbClr val="576875"/>
                </a:solidFill>
                <a:latin typeface="Nimbus Sans"/>
              </a:defRPr>
            </a:pPr>
            <a:r>
              <a:t>Readable text</a:t>
            </a:r>
          </a:p>
        </p:txBody>
      </p:sp>
      <p:sp>
        <p:nvSpPr>
          <p:cNvPr id="24" name="Rounded Rectangle 23"/>
          <p:cNvSpPr/>
          <p:nvPr/>
        </p:nvSpPr>
        <p:spPr>
          <a:xfrm>
            <a:off x="487680" y="4206240"/>
            <a:ext cx="5486400" cy="182118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1040" y="4351020"/>
            <a:ext cx="1524000" cy="853440"/>
          </a:xfrm>
          <a:prstGeom prst="rect">
            <a:avLst/>
          </a:prstGeom>
          <a:noFill/>
        </p:spPr>
        <p:txBody>
          <a:bodyPr wrap="none" lIns="0" rIns="0" tIns="0" bIns="0">
            <a:spAutoFit/>
          </a:bodyPr>
          <a:lstStyle/>
          <a:p>
            <a:pPr>
              <a:lnSpc>
                <a:spcPct val="118000"/>
              </a:lnSpc>
              <a:spcBef>
                <a:spcPts val="0"/>
              </a:spcBef>
              <a:spcAft>
                <a:spcPts val="0"/>
              </a:spcAft>
              <a:defRPr sz="4920" b="0">
                <a:solidFill>
                  <a:srgbClr val="841329"/>
                </a:solidFill>
                <a:latin typeface="Nimbus Roman"/>
              </a:defRPr>
            </a:pPr>
            <a:r>
              <a:t>Aa</a:t>
            </a:r>
          </a:p>
        </p:txBody>
      </p:sp>
      <p:sp>
        <p:nvSpPr>
          <p:cNvPr id="26" name="TextBox 25"/>
          <p:cNvSpPr txBox="1"/>
          <p:nvPr/>
        </p:nvSpPr>
        <p:spPr>
          <a:xfrm>
            <a:off x="1943100" y="4564380"/>
            <a:ext cx="3733799" cy="411480"/>
          </a:xfrm>
          <a:prstGeom prst="rect">
            <a:avLst/>
          </a:prstGeom>
          <a:noFill/>
        </p:spPr>
        <p:txBody>
          <a:bodyPr wrap="none" lIns="0" rIns="0" tIns="0" bIns="0">
            <a:spAutoFit/>
          </a:bodyPr>
          <a:lstStyle/>
          <a:p>
            <a:pPr>
              <a:lnSpc>
                <a:spcPct val="118000"/>
              </a:lnSpc>
              <a:spcBef>
                <a:spcPts val="0"/>
              </a:spcBef>
              <a:spcAft>
                <a:spcPts val="0"/>
              </a:spcAft>
              <a:defRPr sz="1980" b="0">
                <a:solidFill>
                  <a:srgbClr val="19313D"/>
                </a:solidFill>
                <a:latin typeface="Nimbus Roman"/>
              </a:defRPr>
            </a:pPr>
            <a:r>
              <a:t>Expressive headlines</a:t>
            </a:r>
          </a:p>
        </p:txBody>
      </p:sp>
      <p:sp>
        <p:nvSpPr>
          <p:cNvPr id="27" name="TextBox 26"/>
          <p:cNvSpPr txBox="1"/>
          <p:nvPr/>
        </p:nvSpPr>
        <p:spPr>
          <a:xfrm>
            <a:off x="716280" y="5326380"/>
            <a:ext cx="4876800" cy="327660"/>
          </a:xfrm>
          <a:prstGeom prst="rect">
            <a:avLst/>
          </a:prstGeom>
          <a:noFill/>
        </p:spPr>
        <p:txBody>
          <a:bodyPr wrap="none" lIns="0" rIns="0" tIns="0" bIns="0">
            <a:spAutoFit/>
          </a:bodyPr>
          <a:lstStyle/>
          <a:p>
            <a:pPr>
              <a:lnSpc>
                <a:spcPct val="118000"/>
              </a:lnSpc>
              <a:spcBef>
                <a:spcPts val="0"/>
              </a:spcBef>
              <a:spcAft>
                <a:spcPts val="0"/>
              </a:spcAft>
              <a:defRPr sz="1380" b="0">
                <a:solidFill>
                  <a:srgbClr val="576875"/>
                </a:solidFill>
                <a:latin typeface="Nimbus Sans"/>
              </a:defRPr>
            </a:pPr>
            <a:r>
              <a:t>Editorial serif for presentation moments</a:t>
            </a:r>
          </a:p>
        </p:txBody>
      </p:sp>
      <p:sp>
        <p:nvSpPr>
          <p:cNvPr id="28" name="Rounded Rectangle 27"/>
          <p:cNvSpPr/>
          <p:nvPr/>
        </p:nvSpPr>
        <p:spPr>
          <a:xfrm>
            <a:off x="6217920" y="4206240"/>
            <a:ext cx="5486400" cy="182118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1280" y="4427220"/>
            <a:ext cx="1371600" cy="762000"/>
          </a:xfrm>
          <a:prstGeom prst="rect">
            <a:avLst/>
          </a:prstGeom>
          <a:noFill/>
        </p:spPr>
        <p:txBody>
          <a:bodyPr wrap="none" lIns="0" rIns="0" tIns="0" bIns="0">
            <a:spAutoFit/>
          </a:bodyPr>
          <a:lstStyle/>
          <a:p>
            <a:pPr>
              <a:lnSpc>
                <a:spcPct val="118000"/>
              </a:lnSpc>
              <a:spcBef>
                <a:spcPts val="0"/>
              </a:spcBef>
              <a:spcAft>
                <a:spcPts val="0"/>
              </a:spcAft>
              <a:defRPr sz="4320" b="1">
                <a:solidFill>
                  <a:srgbClr val="005348"/>
                </a:solidFill>
                <a:latin typeface="Nimbus Sans"/>
              </a:defRPr>
            </a:pPr>
            <a:r>
              <a:t>Aa</a:t>
            </a:r>
          </a:p>
        </p:txBody>
      </p:sp>
      <p:sp>
        <p:nvSpPr>
          <p:cNvPr id="30" name="TextBox 29"/>
          <p:cNvSpPr txBox="1"/>
          <p:nvPr/>
        </p:nvSpPr>
        <p:spPr>
          <a:xfrm>
            <a:off x="7650480" y="4602480"/>
            <a:ext cx="3810000" cy="381000"/>
          </a:xfrm>
          <a:prstGeom prst="rect">
            <a:avLst/>
          </a:prstGeom>
          <a:noFill/>
        </p:spPr>
        <p:txBody>
          <a:bodyPr wrap="none" lIns="0" rIns="0" tIns="0" bIns="0">
            <a:spAutoFit/>
          </a:bodyPr>
          <a:lstStyle/>
          <a:p>
            <a:pPr>
              <a:lnSpc>
                <a:spcPct val="118000"/>
              </a:lnSpc>
              <a:spcBef>
                <a:spcPts val="0"/>
              </a:spcBef>
              <a:spcAft>
                <a:spcPts val="0"/>
              </a:spcAft>
              <a:defRPr sz="1739" b="1">
                <a:solidFill>
                  <a:srgbClr val="19313D"/>
                </a:solidFill>
                <a:latin typeface="Nimbus Sans"/>
              </a:defRPr>
            </a:pPr>
            <a:r>
              <a:t>Clear interface typography</a:t>
            </a:r>
          </a:p>
        </p:txBody>
      </p:sp>
      <p:sp>
        <p:nvSpPr>
          <p:cNvPr id="31" name="TextBox 30"/>
          <p:cNvSpPr txBox="1"/>
          <p:nvPr/>
        </p:nvSpPr>
        <p:spPr>
          <a:xfrm>
            <a:off x="6446520" y="5326380"/>
            <a:ext cx="5029200" cy="312420"/>
          </a:xfrm>
          <a:prstGeom prst="rect">
            <a:avLst/>
          </a:prstGeom>
          <a:noFill/>
        </p:spPr>
        <p:txBody>
          <a:bodyPr wrap="none" lIns="0" rIns="0" tIns="0" bIns="0">
            <a:spAutoFit/>
          </a:bodyPr>
          <a:lstStyle/>
          <a:p>
            <a:pPr>
              <a:lnSpc>
                <a:spcPct val="118000"/>
              </a:lnSpc>
              <a:spcBef>
                <a:spcPts val="0"/>
              </a:spcBef>
              <a:spcAft>
                <a:spcPts val="0"/>
              </a:spcAft>
              <a:defRPr sz="1320" b="0">
                <a:solidFill>
                  <a:srgbClr val="576875"/>
                </a:solidFill>
                <a:latin typeface="Nimbus Sans"/>
              </a:defRPr>
            </a:pPr>
            <a:r>
              <a:t>Sans serif • rounded cards • consistent actions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005348"/>
                </a:solidFill>
                <a:latin typeface="Nimbus Sans"/>
              </a:defRPr>
            </a:pPr>
            <a:r>
              <a:t>05 / 12</a:t>
            </a:r>
          </a:p>
        </p:txBody>
      </p:sp>
      <p:sp>
        <p:nvSpPr>
          <p:cNvPr id="4" name="Rectangle 3"/>
          <p:cNvSpPr/>
          <p:nvPr/>
        </p:nvSpPr>
        <p:spPr>
          <a:xfrm>
            <a:off x="487680" y="579120"/>
            <a:ext cx="11216640" cy="15240"/>
          </a:xfrm>
          <a:prstGeom prst="rect">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04 / MOBILE ENTRY</a:t>
            </a:r>
          </a:p>
        </p:txBody>
      </p:sp>
      <p:sp>
        <p:nvSpPr>
          <p:cNvPr id="6" name="TextBox 5"/>
          <p:cNvSpPr txBox="1"/>
          <p:nvPr/>
        </p:nvSpPr>
        <p:spPr>
          <a:xfrm>
            <a:off x="487680" y="1143000"/>
            <a:ext cx="110490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19313D"/>
                </a:solidFill>
                <a:latin typeface="Nimbus Sans"/>
              </a:defRPr>
            </a:pPr>
            <a:r>
              <a:t>A clear first impression. A guided start.</a:t>
            </a:r>
          </a:p>
        </p:txBody>
      </p:sp>
      <p:sp>
        <p:nvSpPr>
          <p:cNvPr id="7" name="TextBox 6"/>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005348"/>
                </a:solidFill>
                <a:latin typeface="Nimbus Sans"/>
              </a:defRPr>
            </a:pPr>
            <a:r>
              <a:t>CAMPUS CONNECTIONS, BUILT AROUND SKILLS</a:t>
            </a:r>
          </a:p>
        </p:txBody>
      </p:sp>
      <p:sp>
        <p:nvSpPr>
          <p:cNvPr id="8" name="Rounded Rectangle 7"/>
          <p:cNvSpPr/>
          <p:nvPr/>
        </p:nvSpPr>
        <p:spPr>
          <a:xfrm>
            <a:off x="617220" y="2011680"/>
            <a:ext cx="2262103" cy="4114800"/>
          </a:xfrm>
          <a:prstGeom prst="roundRect">
            <a:avLst>
              <a:gd name="adj" fmla="val 12000"/>
            </a:avLst>
          </a:prstGeom>
          <a:solidFill>
            <a:srgbClr val="193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20261006-042226).png"/>
          <p:cNvPicPr>
            <a:picLocks noChangeAspect="1"/>
          </p:cNvPicPr>
          <p:nvPr/>
        </p:nvPicPr>
        <p:blipFill>
          <a:blip r:embed="rId2"/>
          <a:stretch>
            <a:fillRect/>
          </a:stretch>
        </p:blipFill>
        <p:spPr>
          <a:xfrm>
            <a:off x="681471" y="2080260"/>
            <a:ext cx="2133600" cy="3977639"/>
          </a:xfrm>
          <a:prstGeom prst="rect">
            <a:avLst/>
          </a:prstGeom>
        </p:spPr>
      </p:pic>
      <p:sp>
        <p:nvSpPr>
          <p:cNvPr id="10" name="Rounded Rectangle 9"/>
          <p:cNvSpPr/>
          <p:nvPr/>
        </p:nvSpPr>
        <p:spPr>
          <a:xfrm>
            <a:off x="3345180" y="2011680"/>
            <a:ext cx="2262103" cy="4114800"/>
          </a:xfrm>
          <a:prstGeom prst="roundRect">
            <a:avLst>
              <a:gd name="adj" fmla="val 12000"/>
            </a:avLst>
          </a:prstGeom>
          <a:solidFill>
            <a:srgbClr val="193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20261006-042311).png"/>
          <p:cNvPicPr>
            <a:picLocks noChangeAspect="1"/>
          </p:cNvPicPr>
          <p:nvPr/>
        </p:nvPicPr>
        <p:blipFill>
          <a:blip r:embed="rId3"/>
          <a:stretch>
            <a:fillRect/>
          </a:stretch>
        </p:blipFill>
        <p:spPr>
          <a:xfrm>
            <a:off x="3409431" y="2080260"/>
            <a:ext cx="2133600" cy="3977639"/>
          </a:xfrm>
          <a:prstGeom prst="rect">
            <a:avLst/>
          </a:prstGeom>
        </p:spPr>
      </p:pic>
      <p:sp>
        <p:nvSpPr>
          <p:cNvPr id="12" name="TextBox 11"/>
          <p:cNvSpPr txBox="1"/>
          <p:nvPr/>
        </p:nvSpPr>
        <p:spPr>
          <a:xfrm>
            <a:off x="6438900" y="2346960"/>
            <a:ext cx="5029200" cy="403860"/>
          </a:xfrm>
          <a:prstGeom prst="rect">
            <a:avLst/>
          </a:prstGeom>
          <a:noFill/>
        </p:spPr>
        <p:txBody>
          <a:bodyPr wrap="none" lIns="0" rIns="0" tIns="0" bIns="0">
            <a:spAutoFit/>
          </a:bodyPr>
          <a:lstStyle/>
          <a:p>
            <a:pPr>
              <a:lnSpc>
                <a:spcPct val="118000"/>
              </a:lnSpc>
              <a:spcBef>
                <a:spcPts val="0"/>
              </a:spcBef>
              <a:spcAft>
                <a:spcPts val="0"/>
              </a:spcAft>
              <a:defRPr sz="1920" b="1">
                <a:solidFill>
                  <a:srgbClr val="005348"/>
                </a:solidFill>
                <a:latin typeface="Nimbus Sans"/>
              </a:defRPr>
            </a:pPr>
            <a:r>
              <a:t>01  Communicate the value</a:t>
            </a:r>
          </a:p>
        </p:txBody>
      </p:sp>
      <p:sp>
        <p:nvSpPr>
          <p:cNvPr id="13" name="TextBox 12"/>
          <p:cNvSpPr txBox="1"/>
          <p:nvPr/>
        </p:nvSpPr>
        <p:spPr>
          <a:xfrm>
            <a:off x="6438900" y="2758440"/>
            <a:ext cx="5029200" cy="601980"/>
          </a:xfrm>
          <a:prstGeom prst="rect">
            <a:avLst/>
          </a:prstGeom>
          <a:noFill/>
        </p:spPr>
        <p:txBody>
          <a:bodyPr wrap="none" lIns="0" rIns="0" tIns="0" bIns="0">
            <a:spAutoFit/>
          </a:bodyPr>
          <a:lstStyle/>
          <a:p>
            <a:pPr>
              <a:lnSpc>
                <a:spcPct val="118000"/>
              </a:lnSpc>
              <a:spcBef>
                <a:spcPts val="0"/>
              </a:spcBef>
              <a:spcAft>
                <a:spcPts val="0"/>
              </a:spcAft>
              <a:defRPr sz="1620" b="0">
                <a:solidFill>
                  <a:srgbClr val="576875"/>
                </a:solidFill>
                <a:latin typeface="Nimbus Sans"/>
              </a:defRPr>
            </a:pPr>
            <a:r>
              <a:t>A simple promise and one prominent</a:t>
            </a:r>
          </a:p>
          <a:p>
            <a:pPr>
              <a:lnSpc>
                <a:spcPct val="118000"/>
              </a:lnSpc>
              <a:spcBef>
                <a:spcPts val="0"/>
              </a:spcBef>
              <a:spcAft>
                <a:spcPts val="0"/>
              </a:spcAft>
              <a:defRPr sz="1620" b="0">
                <a:solidFill>
                  <a:srgbClr val="576875"/>
                </a:solidFill>
                <a:latin typeface="Nimbus Sans"/>
              </a:defRPr>
            </a:pPr>
            <a:r>
              <a:t>Get Started action.</a:t>
            </a:r>
          </a:p>
        </p:txBody>
      </p:sp>
      <p:sp>
        <p:nvSpPr>
          <p:cNvPr id="14" name="TextBox 13"/>
          <p:cNvSpPr txBox="1"/>
          <p:nvPr/>
        </p:nvSpPr>
        <p:spPr>
          <a:xfrm>
            <a:off x="6438900" y="3741420"/>
            <a:ext cx="5029200" cy="403860"/>
          </a:xfrm>
          <a:prstGeom prst="rect">
            <a:avLst/>
          </a:prstGeom>
          <a:noFill/>
        </p:spPr>
        <p:txBody>
          <a:bodyPr wrap="none" lIns="0" rIns="0" tIns="0" bIns="0">
            <a:spAutoFit/>
          </a:bodyPr>
          <a:lstStyle/>
          <a:p>
            <a:pPr>
              <a:lnSpc>
                <a:spcPct val="118000"/>
              </a:lnSpc>
              <a:spcBef>
                <a:spcPts val="0"/>
              </a:spcBef>
              <a:spcAft>
                <a:spcPts val="0"/>
              </a:spcAft>
              <a:defRPr sz="1920" b="1">
                <a:solidFill>
                  <a:srgbClr val="841329"/>
                </a:solidFill>
                <a:latin typeface="Nimbus Sans"/>
              </a:defRPr>
            </a:pPr>
            <a:r>
              <a:t>02  Make progress visible</a:t>
            </a:r>
          </a:p>
        </p:txBody>
      </p:sp>
      <p:sp>
        <p:nvSpPr>
          <p:cNvPr id="15" name="TextBox 14"/>
          <p:cNvSpPr txBox="1"/>
          <p:nvPr/>
        </p:nvSpPr>
        <p:spPr>
          <a:xfrm>
            <a:off x="6438900" y="4145280"/>
            <a:ext cx="5029200" cy="601980"/>
          </a:xfrm>
          <a:prstGeom prst="rect">
            <a:avLst/>
          </a:prstGeom>
          <a:noFill/>
        </p:spPr>
        <p:txBody>
          <a:bodyPr wrap="none" lIns="0" rIns="0" tIns="0" bIns="0">
            <a:spAutoFit/>
          </a:bodyPr>
          <a:lstStyle/>
          <a:p>
            <a:pPr>
              <a:lnSpc>
                <a:spcPct val="118000"/>
              </a:lnSpc>
              <a:spcBef>
                <a:spcPts val="0"/>
              </a:spcBef>
              <a:spcAft>
                <a:spcPts val="0"/>
              </a:spcAft>
              <a:defRPr sz="1620" b="0">
                <a:solidFill>
                  <a:srgbClr val="576875"/>
                </a:solidFill>
                <a:latin typeface="Nimbus Sans"/>
              </a:defRPr>
            </a:pPr>
            <a:r>
              <a:t>A three-step indicator gives students</a:t>
            </a:r>
          </a:p>
          <a:p>
            <a:pPr>
              <a:lnSpc>
                <a:spcPct val="118000"/>
              </a:lnSpc>
              <a:spcBef>
                <a:spcPts val="0"/>
              </a:spcBef>
              <a:spcAft>
                <a:spcPts val="0"/>
              </a:spcAft>
              <a:defRPr sz="1620" b="0">
                <a:solidFill>
                  <a:srgbClr val="576875"/>
                </a:solidFill>
                <a:latin typeface="Nimbus Sans"/>
              </a:defRPr>
            </a:pPr>
            <a:r>
              <a:t>a sense of where they are.</a:t>
            </a:r>
          </a:p>
        </p:txBody>
      </p:sp>
      <p:sp>
        <p:nvSpPr>
          <p:cNvPr id="16" name="Rounded Rectangle 15"/>
          <p:cNvSpPr/>
          <p:nvPr/>
        </p:nvSpPr>
        <p:spPr>
          <a:xfrm>
            <a:off x="6332220" y="5173980"/>
            <a:ext cx="5372100" cy="78486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5100" y="5318760"/>
            <a:ext cx="4953000" cy="312420"/>
          </a:xfrm>
          <a:prstGeom prst="rect">
            <a:avLst/>
          </a:prstGeom>
          <a:noFill/>
        </p:spPr>
        <p:txBody>
          <a:bodyPr wrap="none" lIns="0" rIns="0" tIns="0" bIns="0">
            <a:spAutoFit/>
          </a:bodyPr>
          <a:lstStyle/>
          <a:p>
            <a:pPr>
              <a:lnSpc>
                <a:spcPct val="118000"/>
              </a:lnSpc>
              <a:spcBef>
                <a:spcPts val="0"/>
              </a:spcBef>
              <a:spcAft>
                <a:spcPts val="0"/>
              </a:spcAft>
              <a:defRPr sz="1320" b="1">
                <a:solidFill>
                  <a:srgbClr val="19313D"/>
                </a:solidFill>
                <a:latin typeface="Nimbus Sans"/>
              </a:defRPr>
            </a:pPr>
            <a:r>
              <a:t>Supplied mobile screens</a:t>
            </a:r>
          </a:p>
        </p:txBody>
      </p:sp>
      <p:sp>
        <p:nvSpPr>
          <p:cNvPr id="18" name="TextBox 17"/>
          <p:cNvSpPr txBox="1"/>
          <p:nvPr/>
        </p:nvSpPr>
        <p:spPr>
          <a:xfrm>
            <a:off x="6515100" y="5600700"/>
            <a:ext cx="4953000" cy="312420"/>
          </a:xfrm>
          <a:prstGeom prst="rect">
            <a:avLst/>
          </a:prstGeom>
          <a:noFill/>
        </p:spPr>
        <p:txBody>
          <a:bodyPr wrap="none" lIns="0" rIns="0" tIns="0" bIns="0">
            <a:spAutoFit/>
          </a:bodyPr>
          <a:lstStyle/>
          <a:p>
            <a:pPr>
              <a:lnSpc>
                <a:spcPct val="118000"/>
              </a:lnSpc>
              <a:spcBef>
                <a:spcPts val="0"/>
              </a:spcBef>
              <a:spcAft>
                <a:spcPts val="0"/>
              </a:spcAft>
              <a:defRPr sz="1320" b="0">
                <a:solidFill>
                  <a:srgbClr val="576875"/>
                </a:solidFill>
                <a:latin typeface="Nimbus Sans"/>
              </a:defRPr>
            </a:pPr>
            <a:r>
              <a:t>Landing page + profile details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005348"/>
                </a:solidFill>
                <a:latin typeface="Nimbus Sans"/>
              </a:defRPr>
            </a:pPr>
            <a:r>
              <a:t>06 / 12</a:t>
            </a:r>
          </a:p>
        </p:txBody>
      </p:sp>
      <p:sp>
        <p:nvSpPr>
          <p:cNvPr id="4" name="Rectangle 3"/>
          <p:cNvSpPr/>
          <p:nvPr/>
        </p:nvSpPr>
        <p:spPr>
          <a:xfrm>
            <a:off x="487680" y="579120"/>
            <a:ext cx="11216640" cy="15240"/>
          </a:xfrm>
          <a:prstGeom prst="rect">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05 / TRUST AND COMPLETION</a:t>
            </a:r>
          </a:p>
        </p:txBody>
      </p:sp>
      <p:sp>
        <p:nvSpPr>
          <p:cNvPr id="6" name="TextBox 5"/>
          <p:cNvSpPr txBox="1"/>
          <p:nvPr/>
        </p:nvSpPr>
        <p:spPr>
          <a:xfrm>
            <a:off x="487680" y="1143000"/>
            <a:ext cx="110490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19313D"/>
                </a:solidFill>
                <a:latin typeface="Nimbus Sans"/>
              </a:defRPr>
            </a:pPr>
            <a:r>
              <a:t>Build trust at every step.</a:t>
            </a:r>
          </a:p>
        </p:txBody>
      </p:sp>
      <p:sp>
        <p:nvSpPr>
          <p:cNvPr id="7" name="TextBox 6"/>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005348"/>
                </a:solidFill>
                <a:latin typeface="Nimbus Sans"/>
              </a:defRPr>
            </a:pPr>
            <a:r>
              <a:t>CAMPUS CONNECTIONS, BUILT AROUND SKILLS</a:t>
            </a:r>
          </a:p>
        </p:txBody>
      </p:sp>
      <p:sp>
        <p:nvSpPr>
          <p:cNvPr id="8" name="Rounded Rectangle 7"/>
          <p:cNvSpPr/>
          <p:nvPr/>
        </p:nvSpPr>
        <p:spPr>
          <a:xfrm>
            <a:off x="853440" y="2004060"/>
            <a:ext cx="2090562" cy="3794760"/>
          </a:xfrm>
          <a:prstGeom prst="roundRect">
            <a:avLst>
              <a:gd name="adj" fmla="val 12000"/>
            </a:avLst>
          </a:prstGeom>
          <a:solidFill>
            <a:srgbClr val="193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20261006-043452).png"/>
          <p:cNvPicPr>
            <a:picLocks noChangeAspect="1"/>
          </p:cNvPicPr>
          <p:nvPr/>
        </p:nvPicPr>
        <p:blipFill>
          <a:blip r:embed="rId2"/>
          <a:stretch>
            <a:fillRect/>
          </a:stretch>
        </p:blipFill>
        <p:spPr>
          <a:xfrm>
            <a:off x="915741" y="2068830"/>
            <a:ext cx="1965960" cy="3665220"/>
          </a:xfrm>
          <a:prstGeom prst="rect">
            <a:avLst/>
          </a:prstGeom>
        </p:spPr>
      </p:pic>
      <p:sp>
        <p:nvSpPr>
          <p:cNvPr id="10" name="TextBox 9"/>
          <p:cNvSpPr txBox="1"/>
          <p:nvPr/>
        </p:nvSpPr>
        <p:spPr>
          <a:xfrm>
            <a:off x="762000" y="5943600"/>
            <a:ext cx="2781300" cy="289560"/>
          </a:xfrm>
          <a:prstGeom prst="rect">
            <a:avLst/>
          </a:prstGeom>
          <a:noFill/>
        </p:spPr>
        <p:txBody>
          <a:bodyPr wrap="none" lIns="0" rIns="0" tIns="0" bIns="0">
            <a:spAutoFit/>
          </a:bodyPr>
          <a:lstStyle/>
          <a:p>
            <a:pPr>
              <a:lnSpc>
                <a:spcPct val="118000"/>
              </a:lnSpc>
              <a:spcBef>
                <a:spcPts val="0"/>
              </a:spcBef>
              <a:spcAft>
                <a:spcPts val="0"/>
              </a:spcAft>
              <a:defRPr sz="1140" b="1">
                <a:solidFill>
                  <a:srgbClr val="005348"/>
                </a:solidFill>
                <a:latin typeface="Nimbus Sans"/>
              </a:defRPr>
            </a:pPr>
            <a:r>
              <a:t>WHY VERIFY</a:t>
            </a:r>
          </a:p>
        </p:txBody>
      </p:sp>
      <p:sp>
        <p:nvSpPr>
          <p:cNvPr id="11" name="Rounded Rectangle 10"/>
          <p:cNvSpPr/>
          <p:nvPr/>
        </p:nvSpPr>
        <p:spPr>
          <a:xfrm>
            <a:off x="4892040" y="2004060"/>
            <a:ext cx="2090562" cy="3794760"/>
          </a:xfrm>
          <a:prstGeom prst="roundRect">
            <a:avLst>
              <a:gd name="adj" fmla="val 12000"/>
            </a:avLst>
          </a:prstGeom>
          <a:solidFill>
            <a:srgbClr val="193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20261006-043511).png"/>
          <p:cNvPicPr>
            <a:picLocks noChangeAspect="1"/>
          </p:cNvPicPr>
          <p:nvPr/>
        </p:nvPicPr>
        <p:blipFill>
          <a:blip r:embed="rId3"/>
          <a:stretch>
            <a:fillRect/>
          </a:stretch>
        </p:blipFill>
        <p:spPr>
          <a:xfrm>
            <a:off x="4954341" y="2076450"/>
            <a:ext cx="1965960" cy="3649980"/>
          </a:xfrm>
          <a:prstGeom prst="rect">
            <a:avLst/>
          </a:prstGeom>
        </p:spPr>
      </p:pic>
      <p:sp>
        <p:nvSpPr>
          <p:cNvPr id="13" name="TextBox 12"/>
          <p:cNvSpPr txBox="1"/>
          <p:nvPr/>
        </p:nvSpPr>
        <p:spPr>
          <a:xfrm>
            <a:off x="4800600" y="5943600"/>
            <a:ext cx="2781300" cy="289560"/>
          </a:xfrm>
          <a:prstGeom prst="rect">
            <a:avLst/>
          </a:prstGeom>
          <a:noFill/>
        </p:spPr>
        <p:txBody>
          <a:bodyPr wrap="none" lIns="0" rIns="0" tIns="0" bIns="0">
            <a:spAutoFit/>
          </a:bodyPr>
          <a:lstStyle/>
          <a:p>
            <a:pPr>
              <a:lnSpc>
                <a:spcPct val="118000"/>
              </a:lnSpc>
              <a:spcBef>
                <a:spcPts val="0"/>
              </a:spcBef>
              <a:spcAft>
                <a:spcPts val="0"/>
              </a:spcAft>
              <a:defRPr sz="1140" b="1">
                <a:solidFill>
                  <a:srgbClr val="005348"/>
                </a:solidFill>
                <a:latin typeface="Nimbus Sans"/>
              </a:defRPr>
            </a:pPr>
            <a:r>
              <a:t>HOW TO UPLOAD</a:t>
            </a:r>
          </a:p>
        </p:txBody>
      </p:sp>
      <p:sp>
        <p:nvSpPr>
          <p:cNvPr id="14" name="Rounded Rectangle 13"/>
          <p:cNvSpPr/>
          <p:nvPr/>
        </p:nvSpPr>
        <p:spPr>
          <a:xfrm>
            <a:off x="8930640" y="2004060"/>
            <a:ext cx="2090562" cy="3794760"/>
          </a:xfrm>
          <a:prstGeom prst="roundRect">
            <a:avLst>
              <a:gd name="adj" fmla="val 12000"/>
            </a:avLst>
          </a:prstGeom>
          <a:solidFill>
            <a:srgbClr val="193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20261006-043550).png"/>
          <p:cNvPicPr>
            <a:picLocks noChangeAspect="1"/>
          </p:cNvPicPr>
          <p:nvPr/>
        </p:nvPicPr>
        <p:blipFill>
          <a:blip r:embed="rId4"/>
          <a:stretch>
            <a:fillRect/>
          </a:stretch>
        </p:blipFill>
        <p:spPr>
          <a:xfrm>
            <a:off x="8992941" y="2076450"/>
            <a:ext cx="1965960" cy="3649980"/>
          </a:xfrm>
          <a:prstGeom prst="rect">
            <a:avLst/>
          </a:prstGeom>
        </p:spPr>
      </p:pic>
      <p:sp>
        <p:nvSpPr>
          <p:cNvPr id="16" name="TextBox 15"/>
          <p:cNvSpPr txBox="1"/>
          <p:nvPr/>
        </p:nvSpPr>
        <p:spPr>
          <a:xfrm>
            <a:off x="8839200" y="5943600"/>
            <a:ext cx="2781300" cy="289560"/>
          </a:xfrm>
          <a:prstGeom prst="rect">
            <a:avLst/>
          </a:prstGeom>
          <a:noFill/>
        </p:spPr>
        <p:txBody>
          <a:bodyPr wrap="none" lIns="0" rIns="0" tIns="0" bIns="0">
            <a:spAutoFit/>
          </a:bodyPr>
          <a:lstStyle/>
          <a:p>
            <a:pPr>
              <a:lnSpc>
                <a:spcPct val="118000"/>
              </a:lnSpc>
              <a:spcBef>
                <a:spcPts val="0"/>
              </a:spcBef>
              <a:spcAft>
                <a:spcPts val="0"/>
              </a:spcAft>
              <a:defRPr sz="1140" b="1">
                <a:solidFill>
                  <a:srgbClr val="005348"/>
                </a:solidFill>
                <a:latin typeface="Nimbus Sans"/>
              </a:defRPr>
            </a:pPr>
            <a:r>
              <a:t>WHAT HAPPENS NEXT</a:t>
            </a:r>
          </a:p>
        </p:txBody>
      </p:sp>
      <p:sp>
        <p:nvSpPr>
          <p:cNvPr id="17" name="TextBox 16"/>
          <p:cNvSpPr txBox="1"/>
          <p:nvPr/>
        </p:nvSpPr>
        <p:spPr>
          <a:xfrm>
            <a:off x="487680" y="6248400"/>
            <a:ext cx="99060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841329"/>
                </a:solidFill>
                <a:latin typeface="Nimbus Sans"/>
              </a:defRPr>
            </a:pPr>
            <a:r>
              <a:t>UI prototype: identity verification is not connected.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005348"/>
                </a:solidFill>
                <a:latin typeface="Nimbus Sans"/>
              </a:defRPr>
            </a:pPr>
            <a:r>
              <a:t>07 / 12</a:t>
            </a:r>
          </a:p>
        </p:txBody>
      </p:sp>
      <p:sp>
        <p:nvSpPr>
          <p:cNvPr id="4" name="Rectangle 3"/>
          <p:cNvSpPr/>
          <p:nvPr/>
        </p:nvSpPr>
        <p:spPr>
          <a:xfrm>
            <a:off x="487680" y="579120"/>
            <a:ext cx="11216640" cy="15240"/>
          </a:xfrm>
          <a:prstGeom prst="rect">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06 / PROFILE AND DISCOVERY</a:t>
            </a:r>
          </a:p>
        </p:txBody>
      </p:sp>
      <p:sp>
        <p:nvSpPr>
          <p:cNvPr id="6" name="TextBox 5"/>
          <p:cNvSpPr txBox="1"/>
          <p:nvPr/>
        </p:nvSpPr>
        <p:spPr>
          <a:xfrm>
            <a:off x="487680" y="1143000"/>
            <a:ext cx="110490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19313D"/>
                </a:solidFill>
                <a:latin typeface="Nimbus Sans"/>
              </a:defRPr>
            </a:pPr>
            <a:r>
              <a:t>Make the exchange visible before the first message.</a:t>
            </a:r>
          </a:p>
        </p:txBody>
      </p:sp>
      <p:sp>
        <p:nvSpPr>
          <p:cNvPr id="7" name="TextBox 6"/>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005348"/>
                </a:solidFill>
                <a:latin typeface="Nimbus Sans"/>
              </a:defRPr>
            </a:pPr>
            <a:r>
              <a:t>CAMPUS CONNECTIONS, BUILT AROUND SKILLS</a:t>
            </a:r>
          </a:p>
        </p:txBody>
      </p:sp>
      <p:sp>
        <p:nvSpPr>
          <p:cNvPr id="8" name="Rounded Rectangle 7"/>
          <p:cNvSpPr/>
          <p:nvPr/>
        </p:nvSpPr>
        <p:spPr>
          <a:xfrm>
            <a:off x="571500" y="2034540"/>
            <a:ext cx="2204923" cy="4008120"/>
          </a:xfrm>
          <a:prstGeom prst="roundRect">
            <a:avLst>
              <a:gd name="adj" fmla="val 12000"/>
            </a:avLst>
          </a:prstGeom>
          <a:solidFill>
            <a:srgbClr val="193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20261006-043634).png"/>
          <p:cNvPicPr>
            <a:picLocks noChangeAspect="1"/>
          </p:cNvPicPr>
          <p:nvPr/>
        </p:nvPicPr>
        <p:blipFill>
          <a:blip r:embed="rId2"/>
          <a:stretch>
            <a:fillRect/>
          </a:stretch>
        </p:blipFill>
        <p:spPr>
          <a:xfrm>
            <a:off x="633831" y="2095499"/>
            <a:ext cx="2080260" cy="3886200"/>
          </a:xfrm>
          <a:prstGeom prst="rect">
            <a:avLst/>
          </a:prstGeom>
        </p:spPr>
      </p:pic>
      <p:sp>
        <p:nvSpPr>
          <p:cNvPr id="10" name="Rounded Rectangle 9"/>
          <p:cNvSpPr/>
          <p:nvPr/>
        </p:nvSpPr>
        <p:spPr>
          <a:xfrm>
            <a:off x="3284220" y="2034540"/>
            <a:ext cx="2204923" cy="4008120"/>
          </a:xfrm>
          <a:prstGeom prst="roundRect">
            <a:avLst>
              <a:gd name="adj" fmla="val 12000"/>
            </a:avLst>
          </a:prstGeom>
          <a:solidFill>
            <a:srgbClr val="193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20261006-043614).png"/>
          <p:cNvPicPr>
            <a:picLocks noChangeAspect="1"/>
          </p:cNvPicPr>
          <p:nvPr/>
        </p:nvPicPr>
        <p:blipFill>
          <a:blip r:embed="rId3"/>
          <a:stretch>
            <a:fillRect/>
          </a:stretch>
        </p:blipFill>
        <p:spPr>
          <a:xfrm>
            <a:off x="3350361" y="2095499"/>
            <a:ext cx="2072640" cy="3886200"/>
          </a:xfrm>
          <a:prstGeom prst="rect">
            <a:avLst/>
          </a:prstGeom>
        </p:spPr>
      </p:pic>
      <p:sp>
        <p:nvSpPr>
          <p:cNvPr id="12" name="TextBox 11"/>
          <p:cNvSpPr txBox="1"/>
          <p:nvPr/>
        </p:nvSpPr>
        <p:spPr>
          <a:xfrm>
            <a:off x="6278880" y="2316480"/>
            <a:ext cx="5410200" cy="441960"/>
          </a:xfrm>
          <a:prstGeom prst="rect">
            <a:avLst/>
          </a:prstGeom>
          <a:noFill/>
        </p:spPr>
        <p:txBody>
          <a:bodyPr wrap="none" lIns="0" rIns="0" tIns="0" bIns="0">
            <a:spAutoFit/>
          </a:bodyPr>
          <a:lstStyle/>
          <a:p>
            <a:pPr>
              <a:lnSpc>
                <a:spcPct val="118000"/>
              </a:lnSpc>
              <a:spcBef>
                <a:spcPts val="0"/>
              </a:spcBef>
              <a:spcAft>
                <a:spcPts val="0"/>
              </a:spcAft>
              <a:defRPr sz="2160" b="1">
                <a:solidFill>
                  <a:srgbClr val="005348"/>
                </a:solidFill>
                <a:latin typeface="Nimbus Sans"/>
              </a:defRPr>
            </a:pPr>
            <a:r>
              <a:t>What I can teach</a:t>
            </a:r>
          </a:p>
        </p:txBody>
      </p:sp>
      <p:sp>
        <p:nvSpPr>
          <p:cNvPr id="13" name="TextBox 12"/>
          <p:cNvSpPr txBox="1"/>
          <p:nvPr/>
        </p:nvSpPr>
        <p:spPr>
          <a:xfrm>
            <a:off x="6278880" y="2766060"/>
            <a:ext cx="5410200" cy="350520"/>
          </a:xfrm>
          <a:prstGeom prst="rect">
            <a:avLst/>
          </a:prstGeom>
          <a:noFill/>
        </p:spPr>
        <p:txBody>
          <a:bodyPr wrap="none" lIns="0" rIns="0" tIns="0" bIns="0">
            <a:spAutoFit/>
          </a:bodyPr>
          <a:lstStyle/>
          <a:p>
            <a:pPr>
              <a:lnSpc>
                <a:spcPct val="118000"/>
              </a:lnSpc>
              <a:spcBef>
                <a:spcPts val="0"/>
              </a:spcBef>
              <a:spcAft>
                <a:spcPts val="0"/>
              </a:spcAft>
              <a:defRPr sz="1560" b="0">
                <a:solidFill>
                  <a:srgbClr val="576875"/>
                </a:solidFill>
                <a:latin typeface="Nimbus Sans"/>
              </a:defRPr>
            </a:pPr>
            <a:r>
              <a:t>Skill chips make strengths easy to scan.</a:t>
            </a:r>
          </a:p>
        </p:txBody>
      </p:sp>
      <p:sp>
        <p:nvSpPr>
          <p:cNvPr id="14" name="TextBox 13"/>
          <p:cNvSpPr txBox="1"/>
          <p:nvPr/>
        </p:nvSpPr>
        <p:spPr>
          <a:xfrm>
            <a:off x="6278880" y="3467100"/>
            <a:ext cx="5410200" cy="441960"/>
          </a:xfrm>
          <a:prstGeom prst="rect">
            <a:avLst/>
          </a:prstGeom>
          <a:noFill/>
        </p:spPr>
        <p:txBody>
          <a:bodyPr wrap="none" lIns="0" rIns="0" tIns="0" bIns="0">
            <a:spAutoFit/>
          </a:bodyPr>
          <a:lstStyle/>
          <a:p>
            <a:pPr>
              <a:lnSpc>
                <a:spcPct val="118000"/>
              </a:lnSpc>
              <a:spcBef>
                <a:spcPts val="0"/>
              </a:spcBef>
              <a:spcAft>
                <a:spcPts val="0"/>
              </a:spcAft>
              <a:defRPr sz="2160" b="1">
                <a:solidFill>
                  <a:srgbClr val="841329"/>
                </a:solidFill>
                <a:latin typeface="Nimbus Sans"/>
              </a:defRPr>
            </a:pPr>
            <a:r>
              <a:t>What I want to learn</a:t>
            </a:r>
          </a:p>
        </p:txBody>
      </p:sp>
      <p:sp>
        <p:nvSpPr>
          <p:cNvPr id="15" name="TextBox 14"/>
          <p:cNvSpPr txBox="1"/>
          <p:nvPr/>
        </p:nvSpPr>
        <p:spPr>
          <a:xfrm>
            <a:off x="6278880" y="3916680"/>
            <a:ext cx="5410200" cy="350520"/>
          </a:xfrm>
          <a:prstGeom prst="rect">
            <a:avLst/>
          </a:prstGeom>
          <a:noFill/>
        </p:spPr>
        <p:txBody>
          <a:bodyPr wrap="none" lIns="0" rIns="0" tIns="0" bIns="0">
            <a:spAutoFit/>
          </a:bodyPr>
          <a:lstStyle/>
          <a:p>
            <a:pPr>
              <a:lnSpc>
                <a:spcPct val="118000"/>
              </a:lnSpc>
              <a:spcBef>
                <a:spcPts val="0"/>
              </a:spcBef>
              <a:spcAft>
                <a:spcPts val="0"/>
              </a:spcAft>
              <a:defRPr sz="1560" b="0">
                <a:solidFill>
                  <a:srgbClr val="576875"/>
                </a:solidFill>
                <a:latin typeface="Nimbus Sans"/>
              </a:defRPr>
            </a:pPr>
            <a:r>
              <a:t>Learning goals give the match a purpose.</a:t>
            </a:r>
          </a:p>
        </p:txBody>
      </p:sp>
      <p:sp>
        <p:nvSpPr>
          <p:cNvPr id="16" name="Rounded Rectangle 15"/>
          <p:cNvSpPr/>
          <p:nvPr/>
        </p:nvSpPr>
        <p:spPr>
          <a:xfrm>
            <a:off x="6149340" y="4693920"/>
            <a:ext cx="5554980" cy="130302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2700" y="4899660"/>
            <a:ext cx="5105400" cy="381000"/>
          </a:xfrm>
          <a:prstGeom prst="rect">
            <a:avLst/>
          </a:prstGeom>
          <a:noFill/>
        </p:spPr>
        <p:txBody>
          <a:bodyPr wrap="none" lIns="0" rIns="0" tIns="0" bIns="0">
            <a:spAutoFit/>
          </a:bodyPr>
          <a:lstStyle/>
          <a:p>
            <a:pPr>
              <a:lnSpc>
                <a:spcPct val="118000"/>
              </a:lnSpc>
              <a:spcBef>
                <a:spcPts val="0"/>
              </a:spcBef>
              <a:spcAft>
                <a:spcPts val="0"/>
              </a:spcAft>
              <a:defRPr sz="1739" b="1">
                <a:solidFill>
                  <a:srgbClr val="19313D"/>
                </a:solidFill>
                <a:latin typeface="Nimbus Sans"/>
              </a:defRPr>
            </a:pPr>
            <a:r>
              <a:t>A clear invitation</a:t>
            </a:r>
          </a:p>
        </p:txBody>
      </p:sp>
      <p:sp>
        <p:nvSpPr>
          <p:cNvPr id="18" name="TextBox 17"/>
          <p:cNvSpPr txBox="1"/>
          <p:nvPr/>
        </p:nvSpPr>
        <p:spPr>
          <a:xfrm>
            <a:off x="6362700" y="5295900"/>
            <a:ext cx="5105400" cy="571500"/>
          </a:xfrm>
          <a:prstGeom prst="rect">
            <a:avLst/>
          </a:prstGeom>
          <a:noFill/>
        </p:spPr>
        <p:txBody>
          <a:bodyPr wrap="none" lIns="0" rIns="0" tIns="0" bIns="0">
            <a:spAutoFit/>
          </a:bodyPr>
          <a:lstStyle/>
          <a:p>
            <a:pPr>
              <a:lnSpc>
                <a:spcPct val="118000"/>
              </a:lnSpc>
              <a:spcBef>
                <a:spcPts val="0"/>
              </a:spcBef>
              <a:spcAft>
                <a:spcPts val="0"/>
              </a:spcAft>
              <a:defRPr sz="1500" b="0">
                <a:solidFill>
                  <a:srgbClr val="576875"/>
                </a:solidFill>
                <a:latin typeface="Nimbus Sans"/>
              </a:defRPr>
            </a:pPr>
            <a:r>
              <a:t>Each card shows both sides of the exchange</a:t>
            </a:r>
          </a:p>
          <a:p>
            <a:pPr>
              <a:lnSpc>
                <a:spcPct val="118000"/>
              </a:lnSpc>
              <a:spcBef>
                <a:spcPts val="0"/>
              </a:spcBef>
              <a:spcAft>
                <a:spcPts val="0"/>
              </a:spcAft>
              <a:defRPr sz="1500" b="0">
                <a:solidFill>
                  <a:srgbClr val="576875"/>
                </a:solidFill>
                <a:latin typeface="Nimbus Sans"/>
              </a:defRPr>
            </a:pPr>
            <a:r>
              <a:t>and a consistent Connect 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005348"/>
                </a:solidFill>
                <a:latin typeface="Nimbus Sans"/>
              </a:defRPr>
            </a:pPr>
            <a:r>
              <a:t>08 / 12</a:t>
            </a:r>
          </a:p>
        </p:txBody>
      </p:sp>
      <p:sp>
        <p:nvSpPr>
          <p:cNvPr id="4" name="Rectangle 3"/>
          <p:cNvSpPr/>
          <p:nvPr/>
        </p:nvSpPr>
        <p:spPr>
          <a:xfrm>
            <a:off x="487680" y="579120"/>
            <a:ext cx="11216640" cy="15240"/>
          </a:xfrm>
          <a:prstGeom prst="rect">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07 / RESPONSIVE CONCEPT</a:t>
            </a:r>
          </a:p>
        </p:txBody>
      </p:sp>
      <p:sp>
        <p:nvSpPr>
          <p:cNvPr id="6" name="TextBox 5"/>
          <p:cNvSpPr txBox="1"/>
          <p:nvPr/>
        </p:nvSpPr>
        <p:spPr>
          <a:xfrm>
            <a:off x="487680" y="1143000"/>
            <a:ext cx="110490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19313D"/>
                </a:solidFill>
                <a:latin typeface="Nimbus Sans"/>
              </a:defRPr>
            </a:pPr>
            <a:r>
              <a:t>One identity. More room to explore.</a:t>
            </a:r>
          </a:p>
        </p:txBody>
      </p:sp>
      <p:sp>
        <p:nvSpPr>
          <p:cNvPr id="7" name="TextBox 6"/>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005348"/>
                </a:solidFill>
                <a:latin typeface="Nimbus Sans"/>
              </a:defRPr>
            </a:pPr>
            <a:r>
              <a:t>CAMPUS CONNECTIONS, BUILT AROUND SKILLS</a:t>
            </a:r>
          </a:p>
        </p:txBody>
      </p:sp>
      <p:pic>
        <p:nvPicPr>
          <p:cNvPr id="8" name="Picture 7" descr="exec-a13beb50-42be-4603-92a9-6910b8b29f0c.png"/>
          <p:cNvPicPr>
            <a:picLocks noChangeAspect="1"/>
          </p:cNvPicPr>
          <p:nvPr/>
        </p:nvPicPr>
        <p:blipFill>
          <a:blip r:embed="rId2"/>
          <a:stretch>
            <a:fillRect/>
          </a:stretch>
        </p:blipFill>
        <p:spPr>
          <a:xfrm>
            <a:off x="2270760" y="1836420"/>
            <a:ext cx="7650480" cy="4305300"/>
          </a:xfrm>
          <a:prstGeom prst="rect">
            <a:avLst/>
          </a:prstGeom>
        </p:spPr>
      </p:pic>
      <p:sp>
        <p:nvSpPr>
          <p:cNvPr id="9" name="TextBox 8"/>
          <p:cNvSpPr txBox="1"/>
          <p:nvPr/>
        </p:nvSpPr>
        <p:spPr>
          <a:xfrm>
            <a:off x="487680" y="6240780"/>
            <a:ext cx="8381999"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PROPOSED DESKTOP + MOBILE ADAPTATION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005348"/>
                </a:solidFill>
                <a:latin typeface="Nimbus Sans"/>
              </a:defRPr>
            </a:pPr>
            <a:r>
              <a:t>09 / 12</a:t>
            </a:r>
          </a:p>
        </p:txBody>
      </p:sp>
      <p:sp>
        <p:nvSpPr>
          <p:cNvPr id="4" name="Rectangle 3"/>
          <p:cNvSpPr/>
          <p:nvPr/>
        </p:nvSpPr>
        <p:spPr>
          <a:xfrm>
            <a:off x="487680" y="579120"/>
            <a:ext cx="11216640" cy="15240"/>
          </a:xfrm>
          <a:prstGeom prst="rect">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08 / BEYOND THE MATCH</a:t>
            </a:r>
          </a:p>
        </p:txBody>
      </p:sp>
      <p:sp>
        <p:nvSpPr>
          <p:cNvPr id="6" name="TextBox 5"/>
          <p:cNvSpPr txBox="1"/>
          <p:nvPr/>
        </p:nvSpPr>
        <p:spPr>
          <a:xfrm>
            <a:off x="487680" y="1143000"/>
            <a:ext cx="110490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19313D"/>
                </a:solidFill>
                <a:latin typeface="Nimbus Sans"/>
              </a:defRPr>
            </a:pPr>
            <a:r>
              <a:t>Turn a connection into a learning session.</a:t>
            </a:r>
          </a:p>
        </p:txBody>
      </p:sp>
      <p:sp>
        <p:nvSpPr>
          <p:cNvPr id="7" name="TextBox 6"/>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005348"/>
                </a:solidFill>
                <a:latin typeface="Nimbus Sans"/>
              </a:defRPr>
            </a:pPr>
            <a:r>
              <a:t>CAMPUS CONNECTIONS, BUILT AROUND SKILLS</a:t>
            </a:r>
          </a:p>
        </p:txBody>
      </p:sp>
      <p:sp>
        <p:nvSpPr>
          <p:cNvPr id="8" name="Rounded Rectangle 7"/>
          <p:cNvSpPr/>
          <p:nvPr/>
        </p:nvSpPr>
        <p:spPr>
          <a:xfrm>
            <a:off x="487680" y="2232660"/>
            <a:ext cx="3566160" cy="28194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1040" y="2446020"/>
            <a:ext cx="3048000" cy="762000"/>
          </a:xfrm>
          <a:prstGeom prst="rect">
            <a:avLst/>
          </a:prstGeom>
          <a:noFill/>
        </p:spPr>
        <p:txBody>
          <a:bodyPr wrap="none" lIns="0" rIns="0" tIns="0" bIns="0">
            <a:spAutoFit/>
          </a:bodyPr>
          <a:lstStyle/>
          <a:p>
            <a:pPr>
              <a:lnSpc>
                <a:spcPct val="118000"/>
              </a:lnSpc>
              <a:spcBef>
                <a:spcPts val="0"/>
              </a:spcBef>
              <a:spcAft>
                <a:spcPts val="0"/>
              </a:spcAft>
              <a:defRPr sz="4320" b="0">
                <a:solidFill>
                  <a:srgbClr val="005348"/>
                </a:solidFill>
                <a:latin typeface="Nimbus Roman"/>
              </a:defRPr>
            </a:pPr>
            <a:r>
              <a:t>01</a:t>
            </a:r>
          </a:p>
        </p:txBody>
      </p:sp>
      <p:sp>
        <p:nvSpPr>
          <p:cNvPr id="10" name="TextBox 9"/>
          <p:cNvSpPr txBox="1"/>
          <p:nvPr/>
        </p:nvSpPr>
        <p:spPr>
          <a:xfrm>
            <a:off x="701040" y="3276600"/>
            <a:ext cx="3048000" cy="472440"/>
          </a:xfrm>
          <a:prstGeom prst="rect">
            <a:avLst/>
          </a:prstGeom>
          <a:noFill/>
        </p:spPr>
        <p:txBody>
          <a:bodyPr wrap="none" lIns="0" rIns="0" tIns="0" bIns="0">
            <a:spAutoFit/>
          </a:bodyPr>
          <a:lstStyle/>
          <a:p>
            <a:pPr>
              <a:lnSpc>
                <a:spcPct val="118000"/>
              </a:lnSpc>
              <a:spcBef>
                <a:spcPts val="0"/>
              </a:spcBef>
              <a:spcAft>
                <a:spcPts val="0"/>
              </a:spcAft>
              <a:defRPr sz="2340" b="1">
                <a:solidFill>
                  <a:srgbClr val="841329"/>
                </a:solidFill>
                <a:latin typeface="Nimbus Sans"/>
              </a:defRPr>
            </a:pPr>
            <a:r>
              <a:t>Connect</a:t>
            </a:r>
          </a:p>
        </p:txBody>
      </p:sp>
      <p:sp>
        <p:nvSpPr>
          <p:cNvPr id="11" name="TextBox 10"/>
          <p:cNvSpPr txBox="1"/>
          <p:nvPr/>
        </p:nvSpPr>
        <p:spPr>
          <a:xfrm>
            <a:off x="701040" y="3832860"/>
            <a:ext cx="3200400" cy="586740"/>
          </a:xfrm>
          <a:prstGeom prst="rect">
            <a:avLst/>
          </a:prstGeom>
          <a:noFill/>
        </p:spPr>
        <p:txBody>
          <a:bodyPr wrap="none" lIns="0" rIns="0" tIns="0" bIns="0">
            <a:spAutoFit/>
          </a:bodyPr>
          <a:lstStyle/>
          <a:p>
            <a:pPr>
              <a:lnSpc>
                <a:spcPct val="118000"/>
              </a:lnSpc>
              <a:spcBef>
                <a:spcPts val="0"/>
              </a:spcBef>
              <a:spcAft>
                <a:spcPts val="0"/>
              </a:spcAft>
              <a:defRPr sz="1560" b="0">
                <a:solidFill>
                  <a:srgbClr val="576875"/>
                </a:solidFill>
                <a:latin typeface="Nimbus Sans"/>
              </a:defRPr>
            </a:pPr>
            <a:r>
              <a:t>Send a request based on</a:t>
            </a:r>
          </a:p>
          <a:p>
            <a:pPr>
              <a:lnSpc>
                <a:spcPct val="118000"/>
              </a:lnSpc>
              <a:spcBef>
                <a:spcPts val="0"/>
              </a:spcBef>
              <a:spcAft>
                <a:spcPts val="0"/>
              </a:spcAft>
              <a:defRPr sz="1560" b="0">
                <a:solidFill>
                  <a:srgbClr val="576875"/>
                </a:solidFill>
                <a:latin typeface="Nimbus Sans"/>
              </a:defRPr>
            </a:pPr>
            <a:r>
              <a:t>shared learning interests.</a:t>
            </a:r>
          </a:p>
        </p:txBody>
      </p:sp>
      <p:sp>
        <p:nvSpPr>
          <p:cNvPr id="12" name="Rounded Rectangle 11"/>
          <p:cNvSpPr/>
          <p:nvPr/>
        </p:nvSpPr>
        <p:spPr>
          <a:xfrm>
            <a:off x="4312920" y="2232660"/>
            <a:ext cx="3566160" cy="28194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446020"/>
            <a:ext cx="3048000" cy="762000"/>
          </a:xfrm>
          <a:prstGeom prst="rect">
            <a:avLst/>
          </a:prstGeom>
          <a:noFill/>
        </p:spPr>
        <p:txBody>
          <a:bodyPr wrap="none" lIns="0" rIns="0" tIns="0" bIns="0">
            <a:spAutoFit/>
          </a:bodyPr>
          <a:lstStyle/>
          <a:p>
            <a:pPr>
              <a:lnSpc>
                <a:spcPct val="118000"/>
              </a:lnSpc>
              <a:spcBef>
                <a:spcPts val="0"/>
              </a:spcBef>
              <a:spcAft>
                <a:spcPts val="0"/>
              </a:spcAft>
              <a:defRPr sz="4320" b="0">
                <a:solidFill>
                  <a:srgbClr val="005348"/>
                </a:solidFill>
                <a:latin typeface="Nimbus Roman"/>
              </a:defRPr>
            </a:pPr>
            <a:r>
              <a:t>02</a:t>
            </a:r>
          </a:p>
        </p:txBody>
      </p:sp>
      <p:sp>
        <p:nvSpPr>
          <p:cNvPr id="14" name="TextBox 13"/>
          <p:cNvSpPr txBox="1"/>
          <p:nvPr/>
        </p:nvSpPr>
        <p:spPr>
          <a:xfrm>
            <a:off x="4526280" y="3276600"/>
            <a:ext cx="3048000" cy="472440"/>
          </a:xfrm>
          <a:prstGeom prst="rect">
            <a:avLst/>
          </a:prstGeom>
          <a:noFill/>
        </p:spPr>
        <p:txBody>
          <a:bodyPr wrap="none" lIns="0" rIns="0" tIns="0" bIns="0">
            <a:spAutoFit/>
          </a:bodyPr>
          <a:lstStyle/>
          <a:p>
            <a:pPr>
              <a:lnSpc>
                <a:spcPct val="118000"/>
              </a:lnSpc>
              <a:spcBef>
                <a:spcPts val="0"/>
              </a:spcBef>
              <a:spcAft>
                <a:spcPts val="0"/>
              </a:spcAft>
              <a:defRPr sz="2340" b="1">
                <a:solidFill>
                  <a:srgbClr val="841329"/>
                </a:solidFill>
                <a:latin typeface="Nimbus Sans"/>
              </a:defRPr>
            </a:pPr>
            <a:r>
              <a:t>Agree</a:t>
            </a:r>
          </a:p>
        </p:txBody>
      </p:sp>
      <p:sp>
        <p:nvSpPr>
          <p:cNvPr id="15" name="TextBox 14"/>
          <p:cNvSpPr txBox="1"/>
          <p:nvPr/>
        </p:nvSpPr>
        <p:spPr>
          <a:xfrm>
            <a:off x="4526280" y="3832860"/>
            <a:ext cx="3200400" cy="586740"/>
          </a:xfrm>
          <a:prstGeom prst="rect">
            <a:avLst/>
          </a:prstGeom>
          <a:noFill/>
        </p:spPr>
        <p:txBody>
          <a:bodyPr wrap="none" lIns="0" rIns="0" tIns="0" bIns="0">
            <a:spAutoFit/>
          </a:bodyPr>
          <a:lstStyle/>
          <a:p>
            <a:pPr>
              <a:lnSpc>
                <a:spcPct val="118000"/>
              </a:lnSpc>
              <a:spcBef>
                <a:spcPts val="0"/>
              </a:spcBef>
              <a:spcAft>
                <a:spcPts val="0"/>
              </a:spcAft>
              <a:defRPr sz="1560" b="0">
                <a:solidFill>
                  <a:srgbClr val="576875"/>
                </a:solidFill>
                <a:latin typeface="Nimbus Sans"/>
              </a:defRPr>
            </a:pPr>
            <a:r>
              <a:t>Discuss goals, availability</a:t>
            </a:r>
          </a:p>
          <a:p>
            <a:pPr>
              <a:lnSpc>
                <a:spcPct val="118000"/>
              </a:lnSpc>
              <a:spcBef>
                <a:spcPts val="0"/>
              </a:spcBef>
              <a:spcAft>
                <a:spcPts val="0"/>
              </a:spcAft>
              <a:defRPr sz="1560" b="0">
                <a:solidFill>
                  <a:srgbClr val="576875"/>
                </a:solidFill>
                <a:latin typeface="Nimbus Sans"/>
              </a:defRPr>
            </a:pPr>
            <a:r>
              <a:t>and a suitable campus venue.</a:t>
            </a:r>
          </a:p>
        </p:txBody>
      </p:sp>
      <p:sp>
        <p:nvSpPr>
          <p:cNvPr id="16" name="Rounded Rectangle 15"/>
          <p:cNvSpPr/>
          <p:nvPr/>
        </p:nvSpPr>
        <p:spPr>
          <a:xfrm>
            <a:off x="8138160" y="2232660"/>
            <a:ext cx="3566160" cy="28194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1520" y="2446020"/>
            <a:ext cx="3048000" cy="762000"/>
          </a:xfrm>
          <a:prstGeom prst="rect">
            <a:avLst/>
          </a:prstGeom>
          <a:noFill/>
        </p:spPr>
        <p:txBody>
          <a:bodyPr wrap="none" lIns="0" rIns="0" tIns="0" bIns="0">
            <a:spAutoFit/>
          </a:bodyPr>
          <a:lstStyle/>
          <a:p>
            <a:pPr>
              <a:lnSpc>
                <a:spcPct val="118000"/>
              </a:lnSpc>
              <a:spcBef>
                <a:spcPts val="0"/>
              </a:spcBef>
              <a:spcAft>
                <a:spcPts val="0"/>
              </a:spcAft>
              <a:defRPr sz="4320" b="0">
                <a:solidFill>
                  <a:srgbClr val="005348"/>
                </a:solidFill>
                <a:latin typeface="Nimbus Roman"/>
              </a:defRPr>
            </a:pPr>
            <a:r>
              <a:t>03</a:t>
            </a:r>
          </a:p>
        </p:txBody>
      </p:sp>
      <p:sp>
        <p:nvSpPr>
          <p:cNvPr id="18" name="TextBox 17"/>
          <p:cNvSpPr txBox="1"/>
          <p:nvPr/>
        </p:nvSpPr>
        <p:spPr>
          <a:xfrm>
            <a:off x="8351520" y="3276600"/>
            <a:ext cx="3048000" cy="472440"/>
          </a:xfrm>
          <a:prstGeom prst="rect">
            <a:avLst/>
          </a:prstGeom>
          <a:noFill/>
        </p:spPr>
        <p:txBody>
          <a:bodyPr wrap="none" lIns="0" rIns="0" tIns="0" bIns="0">
            <a:spAutoFit/>
          </a:bodyPr>
          <a:lstStyle/>
          <a:p>
            <a:pPr>
              <a:lnSpc>
                <a:spcPct val="118000"/>
              </a:lnSpc>
              <a:spcBef>
                <a:spcPts val="0"/>
              </a:spcBef>
              <a:spcAft>
                <a:spcPts val="0"/>
              </a:spcAft>
              <a:defRPr sz="2340" b="1">
                <a:solidFill>
                  <a:srgbClr val="841329"/>
                </a:solidFill>
                <a:latin typeface="Nimbus Sans"/>
              </a:defRPr>
            </a:pPr>
            <a:r>
              <a:t>Exchange</a:t>
            </a:r>
          </a:p>
        </p:txBody>
      </p:sp>
      <p:sp>
        <p:nvSpPr>
          <p:cNvPr id="19" name="TextBox 18"/>
          <p:cNvSpPr txBox="1"/>
          <p:nvPr/>
        </p:nvSpPr>
        <p:spPr>
          <a:xfrm>
            <a:off x="8351520" y="3832860"/>
            <a:ext cx="3200400" cy="586740"/>
          </a:xfrm>
          <a:prstGeom prst="rect">
            <a:avLst/>
          </a:prstGeom>
          <a:noFill/>
        </p:spPr>
        <p:txBody>
          <a:bodyPr wrap="none" lIns="0" rIns="0" tIns="0" bIns="0">
            <a:spAutoFit/>
          </a:bodyPr>
          <a:lstStyle/>
          <a:p>
            <a:pPr>
              <a:lnSpc>
                <a:spcPct val="118000"/>
              </a:lnSpc>
              <a:spcBef>
                <a:spcPts val="0"/>
              </a:spcBef>
              <a:spcAft>
                <a:spcPts val="0"/>
              </a:spcAft>
              <a:defRPr sz="1560" b="0">
                <a:solidFill>
                  <a:srgbClr val="576875"/>
                </a:solidFill>
                <a:latin typeface="Nimbus Sans"/>
              </a:defRPr>
            </a:pPr>
            <a:r>
              <a:t>Meet, practise and share</a:t>
            </a:r>
          </a:p>
          <a:p>
            <a:pPr>
              <a:lnSpc>
                <a:spcPct val="118000"/>
              </a:lnSpc>
              <a:spcBef>
                <a:spcPts val="0"/>
              </a:spcBef>
              <a:spcAft>
                <a:spcPts val="0"/>
              </a:spcAft>
              <a:defRPr sz="1560" b="0">
                <a:solidFill>
                  <a:srgbClr val="576875"/>
                </a:solidFill>
                <a:latin typeface="Nimbus Sans"/>
              </a:defRPr>
            </a:pPr>
            <a:r>
              <a:t>feedback after the session.</a:t>
            </a:r>
          </a:p>
        </p:txBody>
      </p:sp>
      <p:sp>
        <p:nvSpPr>
          <p:cNvPr id="20" name="Rounded Rectangle 19"/>
          <p:cNvSpPr/>
          <p:nvPr/>
        </p:nvSpPr>
        <p:spPr>
          <a:xfrm>
            <a:off x="487680" y="5394960"/>
            <a:ext cx="11216640" cy="579120"/>
          </a:xfrm>
          <a:prstGeom prst="roundRect">
            <a:avLst>
              <a:gd name="adj" fmla="val 12000"/>
            </a:avLst>
          </a:prstGeom>
          <a:solidFill>
            <a:srgbClr val="005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40" y="5600700"/>
            <a:ext cx="25908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CFE8DF"/>
                </a:solidFill>
                <a:latin typeface="Nimbus Sans"/>
              </a:defRPr>
            </a:pPr>
            <a:r>
              <a:t>PROPOSED NEXT PHASE</a:t>
            </a:r>
          </a:p>
        </p:txBody>
      </p:sp>
      <p:sp>
        <p:nvSpPr>
          <p:cNvPr id="22" name="TextBox 21"/>
          <p:cNvSpPr txBox="1"/>
          <p:nvPr/>
        </p:nvSpPr>
        <p:spPr>
          <a:xfrm>
            <a:off x="3467100" y="5570220"/>
            <a:ext cx="8001000" cy="342900"/>
          </a:xfrm>
          <a:prstGeom prst="rect">
            <a:avLst/>
          </a:prstGeom>
          <a:noFill/>
        </p:spPr>
        <p:txBody>
          <a:bodyPr wrap="none" lIns="0" rIns="0" tIns="0" bIns="0">
            <a:spAutoFit/>
          </a:bodyPr>
          <a:lstStyle/>
          <a:p>
            <a:pPr>
              <a:lnSpc>
                <a:spcPct val="118000"/>
              </a:lnSpc>
              <a:spcBef>
                <a:spcPts val="0"/>
              </a:spcBef>
              <a:spcAft>
                <a:spcPts val="0"/>
              </a:spcAft>
              <a:defRPr sz="1500" b="0">
                <a:solidFill>
                  <a:srgbClr val="FFFFFF"/>
                </a:solidFill>
                <a:latin typeface="Nimbus Sans"/>
              </a:defRPr>
            </a:pPr>
            <a:r>
              <a:t>Connection requests • chat • session planning • feedback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005348"/>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005348"/>
                </a:solidFill>
                <a:latin typeface="Nimbus Sans"/>
              </a:defRPr>
            </a:pPr>
            <a:r>
              <a:t>10 / 12</a:t>
            </a:r>
          </a:p>
        </p:txBody>
      </p:sp>
      <p:sp>
        <p:nvSpPr>
          <p:cNvPr id="4" name="Rectangle 3"/>
          <p:cNvSpPr/>
          <p:nvPr/>
        </p:nvSpPr>
        <p:spPr>
          <a:xfrm>
            <a:off x="487680" y="579120"/>
            <a:ext cx="11216640" cy="15240"/>
          </a:xfrm>
          <a:prstGeom prst="rect">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841329"/>
                </a:solidFill>
                <a:latin typeface="Nimbus Sans"/>
              </a:defRPr>
            </a:pPr>
            <a:r>
              <a:t>09 / TECHNOLOGY STACK</a:t>
            </a:r>
          </a:p>
        </p:txBody>
      </p:sp>
      <p:sp>
        <p:nvSpPr>
          <p:cNvPr id="6" name="TextBox 5"/>
          <p:cNvSpPr txBox="1"/>
          <p:nvPr/>
        </p:nvSpPr>
        <p:spPr>
          <a:xfrm>
            <a:off x="487680" y="1143000"/>
            <a:ext cx="110490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19313D"/>
                </a:solidFill>
                <a:latin typeface="Nimbus Sans"/>
              </a:defRPr>
            </a:pPr>
            <a:r>
              <a:t>The technology behind SkillSwap.</a:t>
            </a:r>
          </a:p>
        </p:txBody>
      </p:sp>
      <p:sp>
        <p:nvSpPr>
          <p:cNvPr id="7" name="TextBox 6"/>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005348"/>
                </a:solidFill>
                <a:latin typeface="Nimbus Sans"/>
              </a:defRPr>
            </a:pPr>
            <a:r>
              <a:t>CAMPUS CONNECTIONS, BUILT AROUND SKILLS</a:t>
            </a:r>
          </a:p>
        </p:txBody>
      </p:sp>
      <p:sp>
        <p:nvSpPr>
          <p:cNvPr id="8" name="Rounded Rectangle 7"/>
          <p:cNvSpPr/>
          <p:nvPr/>
        </p:nvSpPr>
        <p:spPr>
          <a:xfrm>
            <a:off x="487680" y="2156460"/>
            <a:ext cx="5501640" cy="19050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1040" y="2339340"/>
            <a:ext cx="5029200" cy="289560"/>
          </a:xfrm>
          <a:prstGeom prst="rect">
            <a:avLst/>
          </a:prstGeom>
          <a:noFill/>
        </p:spPr>
        <p:txBody>
          <a:bodyPr wrap="none" lIns="0" rIns="0" tIns="0" bIns="0">
            <a:spAutoFit/>
          </a:bodyPr>
          <a:lstStyle/>
          <a:p>
            <a:pPr>
              <a:lnSpc>
                <a:spcPct val="118000"/>
              </a:lnSpc>
              <a:spcBef>
                <a:spcPts val="0"/>
              </a:spcBef>
              <a:spcAft>
                <a:spcPts val="0"/>
              </a:spcAft>
              <a:defRPr sz="1140" b="1">
                <a:solidFill>
                  <a:srgbClr val="005348"/>
                </a:solidFill>
                <a:latin typeface="Nimbus Sans"/>
              </a:defRPr>
            </a:pPr>
            <a:r>
              <a:t>DART  /  FRONTEND</a:t>
            </a:r>
          </a:p>
        </p:txBody>
      </p:sp>
      <p:sp>
        <p:nvSpPr>
          <p:cNvPr id="10" name="TextBox 9"/>
          <p:cNvSpPr txBox="1"/>
          <p:nvPr/>
        </p:nvSpPr>
        <p:spPr>
          <a:xfrm>
            <a:off x="701040" y="2682240"/>
            <a:ext cx="50292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005348"/>
                </a:solidFill>
                <a:latin typeface="Nimbus Sans"/>
              </a:defRPr>
            </a:pPr>
            <a:r>
              <a:t>Flutter</a:t>
            </a:r>
          </a:p>
        </p:txBody>
      </p:sp>
      <p:sp>
        <p:nvSpPr>
          <p:cNvPr id="11" name="TextBox 10"/>
          <p:cNvSpPr txBox="1"/>
          <p:nvPr/>
        </p:nvSpPr>
        <p:spPr>
          <a:xfrm>
            <a:off x="701040" y="3337560"/>
            <a:ext cx="5067300" cy="601980"/>
          </a:xfrm>
          <a:prstGeom prst="rect">
            <a:avLst/>
          </a:prstGeom>
          <a:noFill/>
        </p:spPr>
        <p:txBody>
          <a:bodyPr wrap="none" lIns="0" rIns="0" tIns="0" bIns="0">
            <a:spAutoFit/>
          </a:bodyPr>
          <a:lstStyle/>
          <a:p>
            <a:pPr>
              <a:lnSpc>
                <a:spcPct val="118000"/>
              </a:lnSpc>
              <a:spcBef>
                <a:spcPts val="0"/>
              </a:spcBef>
              <a:spcAft>
                <a:spcPts val="0"/>
              </a:spcAft>
              <a:defRPr sz="1620" b="0">
                <a:solidFill>
                  <a:srgbClr val="576875"/>
                </a:solidFill>
                <a:latin typeface="Nimbus Sans"/>
              </a:defRPr>
            </a:pPr>
            <a:r>
              <a:t>Cross-platform UI for mobile, web</a:t>
            </a:r>
          </a:p>
          <a:p>
            <a:pPr>
              <a:lnSpc>
                <a:spcPct val="118000"/>
              </a:lnSpc>
              <a:spcBef>
                <a:spcPts val="0"/>
              </a:spcBef>
              <a:spcAft>
                <a:spcPts val="0"/>
              </a:spcAft>
              <a:defRPr sz="1620" b="0">
                <a:solidFill>
                  <a:srgbClr val="576875"/>
                </a:solidFill>
                <a:latin typeface="Nimbus Sans"/>
              </a:defRPr>
            </a:pPr>
            <a:r>
              <a:t>and desktop, with reusable widgets.</a:t>
            </a:r>
          </a:p>
        </p:txBody>
      </p:sp>
      <p:sp>
        <p:nvSpPr>
          <p:cNvPr id="12" name="Rounded Rectangle 11"/>
          <p:cNvSpPr/>
          <p:nvPr/>
        </p:nvSpPr>
        <p:spPr>
          <a:xfrm>
            <a:off x="6202680" y="2156460"/>
            <a:ext cx="5501640" cy="19050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6040" y="2339340"/>
            <a:ext cx="5029200" cy="289560"/>
          </a:xfrm>
          <a:prstGeom prst="rect">
            <a:avLst/>
          </a:prstGeom>
          <a:noFill/>
        </p:spPr>
        <p:txBody>
          <a:bodyPr wrap="none" lIns="0" rIns="0" tIns="0" bIns="0">
            <a:spAutoFit/>
          </a:bodyPr>
          <a:lstStyle/>
          <a:p>
            <a:pPr>
              <a:lnSpc>
                <a:spcPct val="118000"/>
              </a:lnSpc>
              <a:spcBef>
                <a:spcPts val="0"/>
              </a:spcBef>
              <a:spcAft>
                <a:spcPts val="0"/>
              </a:spcAft>
              <a:defRPr sz="1140" b="1">
                <a:solidFill>
                  <a:srgbClr val="841329"/>
                </a:solidFill>
                <a:latin typeface="Nimbus Sans"/>
              </a:defRPr>
            </a:pPr>
            <a:r>
              <a:t>PYTHON  /  BACKEND</a:t>
            </a:r>
          </a:p>
        </p:txBody>
      </p:sp>
      <p:sp>
        <p:nvSpPr>
          <p:cNvPr id="14" name="TextBox 13"/>
          <p:cNvSpPr txBox="1"/>
          <p:nvPr/>
        </p:nvSpPr>
        <p:spPr>
          <a:xfrm>
            <a:off x="6416040" y="2682240"/>
            <a:ext cx="5029200" cy="601980"/>
          </a:xfrm>
          <a:prstGeom prst="rect">
            <a:avLst/>
          </a:prstGeom>
          <a:noFill/>
        </p:spPr>
        <p:txBody>
          <a:bodyPr wrap="none" lIns="0" rIns="0" tIns="0" bIns="0">
            <a:spAutoFit/>
          </a:bodyPr>
          <a:lstStyle/>
          <a:p>
            <a:pPr>
              <a:lnSpc>
                <a:spcPct val="118000"/>
              </a:lnSpc>
              <a:spcBef>
                <a:spcPts val="0"/>
              </a:spcBef>
              <a:spcAft>
                <a:spcPts val="0"/>
              </a:spcAft>
              <a:defRPr sz="3240" b="1">
                <a:solidFill>
                  <a:srgbClr val="841329"/>
                </a:solidFill>
                <a:latin typeface="Nimbus Sans"/>
              </a:defRPr>
            </a:pPr>
            <a:r>
              <a:t>FastAPI</a:t>
            </a:r>
          </a:p>
        </p:txBody>
      </p:sp>
      <p:sp>
        <p:nvSpPr>
          <p:cNvPr id="15" name="TextBox 14"/>
          <p:cNvSpPr txBox="1"/>
          <p:nvPr/>
        </p:nvSpPr>
        <p:spPr>
          <a:xfrm>
            <a:off x="6416040" y="3337560"/>
            <a:ext cx="5067300" cy="601980"/>
          </a:xfrm>
          <a:prstGeom prst="rect">
            <a:avLst/>
          </a:prstGeom>
          <a:noFill/>
        </p:spPr>
        <p:txBody>
          <a:bodyPr wrap="none" lIns="0" rIns="0" tIns="0" bIns="0">
            <a:spAutoFit/>
          </a:bodyPr>
          <a:lstStyle/>
          <a:p>
            <a:pPr>
              <a:lnSpc>
                <a:spcPct val="118000"/>
              </a:lnSpc>
              <a:spcBef>
                <a:spcPts val="0"/>
              </a:spcBef>
              <a:spcAft>
                <a:spcPts val="0"/>
              </a:spcAft>
              <a:defRPr sz="1620" b="0">
                <a:solidFill>
                  <a:srgbClr val="576875"/>
                </a:solidFill>
                <a:latin typeface="Nimbus Sans"/>
              </a:defRPr>
            </a:pPr>
            <a:r>
              <a:t>API layer for profiles, connections</a:t>
            </a:r>
          </a:p>
          <a:p>
            <a:pPr>
              <a:lnSpc>
                <a:spcPct val="118000"/>
              </a:lnSpc>
              <a:spcBef>
                <a:spcPts val="0"/>
              </a:spcBef>
              <a:spcAft>
                <a:spcPts val="0"/>
              </a:spcAft>
              <a:defRPr sz="1620" b="0">
                <a:solidFill>
                  <a:srgbClr val="576875"/>
                </a:solidFill>
                <a:latin typeface="Nimbus Sans"/>
              </a:defRPr>
            </a:pPr>
            <a:r>
              <a:t>and application logic.</a:t>
            </a:r>
          </a:p>
        </p:txBody>
      </p:sp>
      <p:sp>
        <p:nvSpPr>
          <p:cNvPr id="16" name="TextBox 15"/>
          <p:cNvSpPr txBox="1"/>
          <p:nvPr/>
        </p:nvSpPr>
        <p:spPr>
          <a:xfrm>
            <a:off x="487680" y="4434840"/>
            <a:ext cx="11049000" cy="289560"/>
          </a:xfrm>
          <a:prstGeom prst="rect">
            <a:avLst/>
          </a:prstGeom>
          <a:noFill/>
        </p:spPr>
        <p:txBody>
          <a:bodyPr wrap="none" lIns="0" rIns="0" tIns="0" bIns="0">
            <a:spAutoFit/>
          </a:bodyPr>
          <a:lstStyle/>
          <a:p>
            <a:pPr>
              <a:lnSpc>
                <a:spcPct val="118000"/>
              </a:lnSpc>
              <a:spcBef>
                <a:spcPts val="0"/>
              </a:spcBef>
              <a:spcAft>
                <a:spcPts val="0"/>
              </a:spcAft>
              <a:defRPr sz="1140" b="1">
                <a:solidFill>
                  <a:srgbClr val="841329"/>
                </a:solidFill>
                <a:latin typeface="Nimbus Sans"/>
              </a:defRPr>
            </a:pPr>
            <a:r>
              <a:t>RECOMMENDED SUPPORTING TECHNOLOGIES</a:t>
            </a:r>
          </a:p>
        </p:txBody>
      </p:sp>
      <p:sp>
        <p:nvSpPr>
          <p:cNvPr id="17" name="Rounded Rectangle 16"/>
          <p:cNvSpPr/>
          <p:nvPr/>
        </p:nvSpPr>
        <p:spPr>
          <a:xfrm>
            <a:off x="487680" y="4785360"/>
            <a:ext cx="3566160" cy="11430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 y="4937760"/>
            <a:ext cx="3215640" cy="388620"/>
          </a:xfrm>
          <a:prstGeom prst="rect">
            <a:avLst/>
          </a:prstGeom>
          <a:noFill/>
        </p:spPr>
        <p:txBody>
          <a:bodyPr wrap="none" lIns="0" rIns="0" tIns="0" bIns="0">
            <a:spAutoFit/>
          </a:bodyPr>
          <a:lstStyle/>
          <a:p>
            <a:pPr>
              <a:lnSpc>
                <a:spcPct val="118000"/>
              </a:lnSpc>
              <a:spcBef>
                <a:spcPts val="0"/>
              </a:spcBef>
              <a:spcAft>
                <a:spcPts val="0"/>
              </a:spcAft>
              <a:defRPr sz="1800" b="1">
                <a:solidFill>
                  <a:srgbClr val="005348"/>
                </a:solidFill>
                <a:latin typeface="Nimbus Sans"/>
              </a:defRPr>
            </a:pPr>
            <a:r>
              <a:t>PostgreSQL</a:t>
            </a:r>
          </a:p>
        </p:txBody>
      </p:sp>
      <p:sp>
        <p:nvSpPr>
          <p:cNvPr id="19" name="TextBox 18"/>
          <p:cNvSpPr txBox="1"/>
          <p:nvPr/>
        </p:nvSpPr>
        <p:spPr>
          <a:xfrm>
            <a:off x="662940" y="5318760"/>
            <a:ext cx="3215640" cy="533400"/>
          </a:xfrm>
          <a:prstGeom prst="rect">
            <a:avLst/>
          </a:prstGeom>
          <a:noFill/>
        </p:spPr>
        <p:txBody>
          <a:bodyPr wrap="none" lIns="0" rIns="0" tIns="0" bIns="0">
            <a:spAutoFit/>
          </a:bodyPr>
          <a:lstStyle/>
          <a:p>
            <a:pPr>
              <a:lnSpc>
                <a:spcPct val="118000"/>
              </a:lnSpc>
              <a:spcBef>
                <a:spcPts val="0"/>
              </a:spcBef>
              <a:spcAft>
                <a:spcPts val="0"/>
              </a:spcAft>
              <a:defRPr sz="1380" b="0">
                <a:solidFill>
                  <a:srgbClr val="576875"/>
                </a:solidFill>
                <a:latin typeface="Nimbus Sans"/>
              </a:defRPr>
            </a:pPr>
            <a:r>
              <a:t>Profiles, skills and</a:t>
            </a:r>
          </a:p>
          <a:p>
            <a:pPr>
              <a:lnSpc>
                <a:spcPct val="118000"/>
              </a:lnSpc>
              <a:spcBef>
                <a:spcPts val="0"/>
              </a:spcBef>
              <a:spcAft>
                <a:spcPts val="0"/>
              </a:spcAft>
              <a:defRPr sz="1380" b="0">
                <a:solidFill>
                  <a:srgbClr val="576875"/>
                </a:solidFill>
                <a:latin typeface="Nimbus Sans"/>
              </a:defRPr>
            </a:pPr>
            <a:r>
              <a:t>connection records.</a:t>
            </a:r>
          </a:p>
        </p:txBody>
      </p:sp>
      <p:sp>
        <p:nvSpPr>
          <p:cNvPr id="20" name="Rounded Rectangle 19"/>
          <p:cNvSpPr/>
          <p:nvPr/>
        </p:nvSpPr>
        <p:spPr>
          <a:xfrm>
            <a:off x="4312920" y="4785360"/>
            <a:ext cx="3566160" cy="11430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8180" y="4937760"/>
            <a:ext cx="3215640" cy="388620"/>
          </a:xfrm>
          <a:prstGeom prst="rect">
            <a:avLst/>
          </a:prstGeom>
          <a:noFill/>
        </p:spPr>
        <p:txBody>
          <a:bodyPr wrap="none" lIns="0" rIns="0" tIns="0" bIns="0">
            <a:spAutoFit/>
          </a:bodyPr>
          <a:lstStyle/>
          <a:p>
            <a:pPr>
              <a:lnSpc>
                <a:spcPct val="118000"/>
              </a:lnSpc>
              <a:spcBef>
                <a:spcPts val="0"/>
              </a:spcBef>
              <a:spcAft>
                <a:spcPts val="0"/>
              </a:spcAft>
              <a:defRPr sz="1800" b="1">
                <a:solidFill>
                  <a:srgbClr val="005348"/>
                </a:solidFill>
                <a:latin typeface="Nimbus Sans"/>
              </a:defRPr>
            </a:pPr>
            <a:r>
              <a:t>Supabase</a:t>
            </a:r>
          </a:p>
        </p:txBody>
      </p:sp>
      <p:sp>
        <p:nvSpPr>
          <p:cNvPr id="22" name="TextBox 21"/>
          <p:cNvSpPr txBox="1"/>
          <p:nvPr/>
        </p:nvSpPr>
        <p:spPr>
          <a:xfrm>
            <a:off x="4488180" y="5318760"/>
            <a:ext cx="3215640" cy="533400"/>
          </a:xfrm>
          <a:prstGeom prst="rect">
            <a:avLst/>
          </a:prstGeom>
          <a:noFill/>
        </p:spPr>
        <p:txBody>
          <a:bodyPr wrap="none" lIns="0" rIns="0" tIns="0" bIns="0">
            <a:spAutoFit/>
          </a:bodyPr>
          <a:lstStyle/>
          <a:p>
            <a:pPr>
              <a:lnSpc>
                <a:spcPct val="118000"/>
              </a:lnSpc>
              <a:spcBef>
                <a:spcPts val="0"/>
              </a:spcBef>
              <a:spcAft>
                <a:spcPts val="0"/>
              </a:spcAft>
              <a:defRPr sz="1380" b="0">
                <a:solidFill>
                  <a:srgbClr val="576875"/>
                </a:solidFill>
                <a:latin typeface="Nimbus Sans"/>
              </a:defRPr>
            </a:pPr>
            <a:r>
              <a:t>Authentication and</a:t>
            </a:r>
          </a:p>
          <a:p>
            <a:pPr>
              <a:lnSpc>
                <a:spcPct val="118000"/>
              </a:lnSpc>
              <a:spcBef>
                <a:spcPts val="0"/>
              </a:spcBef>
              <a:spcAft>
                <a:spcPts val="0"/>
              </a:spcAft>
              <a:defRPr sz="1380" b="0">
                <a:solidFill>
                  <a:srgbClr val="576875"/>
                </a:solidFill>
                <a:latin typeface="Nimbus Sans"/>
              </a:defRPr>
            </a:pPr>
            <a:r>
              <a:t>private file storage.</a:t>
            </a:r>
          </a:p>
        </p:txBody>
      </p:sp>
      <p:sp>
        <p:nvSpPr>
          <p:cNvPr id="23" name="Rounded Rectangle 22"/>
          <p:cNvSpPr/>
          <p:nvPr/>
        </p:nvSpPr>
        <p:spPr>
          <a:xfrm>
            <a:off x="8138160" y="4785360"/>
            <a:ext cx="3566160" cy="1143000"/>
          </a:xfrm>
          <a:prstGeom prst="roundRect">
            <a:avLst>
              <a:gd name="adj" fmla="val 12000"/>
            </a:avLst>
          </a:prstGeom>
          <a:solidFill>
            <a:srgbClr val="EE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13420" y="4937760"/>
            <a:ext cx="3215640" cy="388620"/>
          </a:xfrm>
          <a:prstGeom prst="rect">
            <a:avLst/>
          </a:prstGeom>
          <a:noFill/>
        </p:spPr>
        <p:txBody>
          <a:bodyPr wrap="none" lIns="0" rIns="0" tIns="0" bIns="0">
            <a:spAutoFit/>
          </a:bodyPr>
          <a:lstStyle/>
          <a:p>
            <a:pPr>
              <a:lnSpc>
                <a:spcPct val="118000"/>
              </a:lnSpc>
              <a:spcBef>
                <a:spcPts val="0"/>
              </a:spcBef>
              <a:spcAft>
                <a:spcPts val="0"/>
              </a:spcAft>
              <a:defRPr sz="1800" b="1">
                <a:solidFill>
                  <a:srgbClr val="005348"/>
                </a:solidFill>
                <a:latin typeface="Nimbus Sans"/>
              </a:defRPr>
            </a:pPr>
            <a:r>
              <a:t>GitHub + Docker</a:t>
            </a:r>
          </a:p>
        </p:txBody>
      </p:sp>
      <p:sp>
        <p:nvSpPr>
          <p:cNvPr id="25" name="TextBox 24"/>
          <p:cNvSpPr txBox="1"/>
          <p:nvPr/>
        </p:nvSpPr>
        <p:spPr>
          <a:xfrm>
            <a:off x="8313420" y="5318760"/>
            <a:ext cx="3215640" cy="533400"/>
          </a:xfrm>
          <a:prstGeom prst="rect">
            <a:avLst/>
          </a:prstGeom>
          <a:noFill/>
        </p:spPr>
        <p:txBody>
          <a:bodyPr wrap="none" lIns="0" rIns="0" tIns="0" bIns="0">
            <a:spAutoFit/>
          </a:bodyPr>
          <a:lstStyle/>
          <a:p>
            <a:pPr>
              <a:lnSpc>
                <a:spcPct val="118000"/>
              </a:lnSpc>
              <a:spcBef>
                <a:spcPts val="0"/>
              </a:spcBef>
              <a:spcAft>
                <a:spcPts val="0"/>
              </a:spcAft>
              <a:defRPr sz="1380" b="0">
                <a:solidFill>
                  <a:srgbClr val="576875"/>
                </a:solidFill>
                <a:latin typeface="Nimbus Sans"/>
              </a:defRPr>
            </a:pPr>
            <a:r>
              <a:t>Version control and</a:t>
            </a:r>
          </a:p>
          <a:p>
            <a:pPr>
              <a:lnSpc>
                <a:spcPct val="118000"/>
              </a:lnSpc>
              <a:spcBef>
                <a:spcPts val="0"/>
              </a:spcBef>
              <a:spcAft>
                <a:spcPts val="0"/>
              </a:spcAft>
              <a:defRPr sz="1380" b="0">
                <a:solidFill>
                  <a:srgbClr val="576875"/>
                </a:solidFill>
                <a:latin typeface="Nimbus Sans"/>
              </a:defRPr>
            </a:pPr>
            <a:r>
              <a:t>backend packaging.</a:t>
            </a:r>
          </a:p>
        </p:txBody>
      </p:sp>
      <p:sp>
        <p:nvSpPr>
          <p:cNvPr id="26" name="TextBox 25"/>
          <p:cNvSpPr txBox="1"/>
          <p:nvPr/>
        </p:nvSpPr>
        <p:spPr>
          <a:xfrm>
            <a:off x="487680" y="6202680"/>
            <a:ext cx="11125200" cy="289560"/>
          </a:xfrm>
          <a:prstGeom prst="rect">
            <a:avLst/>
          </a:prstGeom>
          <a:noFill/>
        </p:spPr>
        <p:txBody>
          <a:bodyPr wrap="none" lIns="0" rIns="0" tIns="0" bIns="0">
            <a:spAutoFit/>
          </a:bodyPr>
          <a:lstStyle/>
          <a:p>
            <a:pPr>
              <a:lnSpc>
                <a:spcPct val="118000"/>
              </a:lnSpc>
              <a:spcBef>
                <a:spcPts val="0"/>
              </a:spcBef>
              <a:spcAft>
                <a:spcPts val="0"/>
              </a:spcAft>
              <a:defRPr sz="1140" b="0">
                <a:solidFill>
                  <a:srgbClr val="841329"/>
                </a:solidFill>
                <a:latin typeface="Nimbus Sans"/>
              </a:defRPr>
            </a:pPr>
            <a:r>
              <a:t>Flutter and FastAPI are confirmed; supporting tools are recommendations.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5348"/>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F8F6F0"/>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F8F6F0"/>
                </a:solidFill>
                <a:latin typeface="Nimbus Sans"/>
              </a:defRPr>
            </a:pPr>
            <a:r>
              <a:t>11 / 12</a:t>
            </a:r>
          </a:p>
        </p:txBody>
      </p:sp>
      <p:sp>
        <p:nvSpPr>
          <p:cNvPr id="4" name="Rectangle 3"/>
          <p:cNvSpPr/>
          <p:nvPr/>
        </p:nvSpPr>
        <p:spPr>
          <a:xfrm>
            <a:off x="487680" y="579120"/>
            <a:ext cx="11216640" cy="15240"/>
          </a:xfrm>
          <a:prstGeom prst="rect">
            <a:avLst/>
          </a:prstGeom>
          <a:solidFill>
            <a:srgbClr val="CF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CFE8DF"/>
                </a:solidFill>
                <a:latin typeface="Nimbus Sans"/>
              </a:defRPr>
            </a:pPr>
            <a:r>
              <a:t>10 / THE VISION</a:t>
            </a:r>
          </a:p>
        </p:txBody>
      </p:sp>
      <p:sp>
        <p:nvSpPr>
          <p:cNvPr id="6" name="TextBox 5"/>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F8F6F0"/>
                </a:solidFill>
                <a:latin typeface="Nimbus Sans"/>
              </a:defRPr>
            </a:pPr>
            <a:r>
              <a:t>CAMPUS CONNECTIONS, BUILT AROUND SKILLS</a:t>
            </a:r>
          </a:p>
        </p:txBody>
      </p:sp>
      <p:sp>
        <p:nvSpPr>
          <p:cNvPr id="7" name="TextBox 6"/>
          <p:cNvSpPr txBox="1"/>
          <p:nvPr/>
        </p:nvSpPr>
        <p:spPr>
          <a:xfrm>
            <a:off x="487680" y="1516380"/>
            <a:ext cx="11201400" cy="1577340"/>
          </a:xfrm>
          <a:prstGeom prst="rect">
            <a:avLst/>
          </a:prstGeom>
          <a:noFill/>
        </p:spPr>
        <p:txBody>
          <a:bodyPr wrap="none" lIns="0" rIns="0" tIns="0" bIns="0">
            <a:spAutoFit/>
          </a:bodyPr>
          <a:lstStyle/>
          <a:p>
            <a:pPr>
              <a:lnSpc>
                <a:spcPct val="118000"/>
              </a:lnSpc>
              <a:spcBef>
                <a:spcPts val="0"/>
              </a:spcBef>
              <a:spcAft>
                <a:spcPts val="0"/>
              </a:spcAft>
              <a:defRPr sz="4860" b="0">
                <a:solidFill>
                  <a:srgbClr val="F8F6F0"/>
                </a:solidFill>
                <a:latin typeface="Nimbus Roman"/>
              </a:defRPr>
            </a:pPr>
            <a:r>
              <a:t>A campus where everyone</a:t>
            </a:r>
          </a:p>
          <a:p>
            <a:pPr>
              <a:lnSpc>
                <a:spcPct val="118000"/>
              </a:lnSpc>
              <a:spcBef>
                <a:spcPts val="0"/>
              </a:spcBef>
              <a:spcAft>
                <a:spcPts val="0"/>
              </a:spcAft>
              <a:defRPr sz="4860" b="0">
                <a:solidFill>
                  <a:srgbClr val="F8F6F0"/>
                </a:solidFill>
                <a:latin typeface="Nimbus Roman"/>
              </a:defRPr>
            </a:pPr>
            <a:r>
              <a:t>has something to teach.</a:t>
            </a:r>
          </a:p>
        </p:txBody>
      </p:sp>
      <p:sp>
        <p:nvSpPr>
          <p:cNvPr id="8" name="Rectangle 7"/>
          <p:cNvSpPr/>
          <p:nvPr/>
        </p:nvSpPr>
        <p:spPr>
          <a:xfrm>
            <a:off x="487680" y="3741420"/>
            <a:ext cx="3581400" cy="30480"/>
          </a:xfrm>
          <a:prstGeom prst="rect">
            <a:avLst/>
          </a:prstGeom>
          <a:solidFill>
            <a:srgbClr val="CF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7680" y="4114800"/>
            <a:ext cx="3505200" cy="510540"/>
          </a:xfrm>
          <a:prstGeom prst="rect">
            <a:avLst/>
          </a:prstGeom>
          <a:noFill/>
        </p:spPr>
        <p:txBody>
          <a:bodyPr wrap="none" lIns="0" rIns="0" tIns="0" bIns="0">
            <a:spAutoFit/>
          </a:bodyPr>
          <a:lstStyle/>
          <a:p>
            <a:pPr>
              <a:lnSpc>
                <a:spcPct val="118000"/>
              </a:lnSpc>
              <a:spcBef>
                <a:spcPts val="0"/>
              </a:spcBef>
              <a:spcAft>
                <a:spcPts val="0"/>
              </a:spcAft>
              <a:defRPr sz="2640" b="1">
                <a:solidFill>
                  <a:srgbClr val="F8F6F0"/>
                </a:solidFill>
                <a:latin typeface="Nimbus Sans"/>
              </a:defRPr>
            </a:pPr>
            <a:r>
              <a:t>Discover</a:t>
            </a:r>
          </a:p>
        </p:txBody>
      </p:sp>
      <p:sp>
        <p:nvSpPr>
          <p:cNvPr id="10" name="TextBox 9"/>
          <p:cNvSpPr txBox="1"/>
          <p:nvPr/>
        </p:nvSpPr>
        <p:spPr>
          <a:xfrm>
            <a:off x="487680" y="4625340"/>
            <a:ext cx="3543300" cy="350520"/>
          </a:xfrm>
          <a:prstGeom prst="rect">
            <a:avLst/>
          </a:prstGeom>
          <a:noFill/>
        </p:spPr>
        <p:txBody>
          <a:bodyPr wrap="none" lIns="0" rIns="0" tIns="0" bIns="0">
            <a:spAutoFit/>
          </a:bodyPr>
          <a:lstStyle/>
          <a:p>
            <a:pPr>
              <a:lnSpc>
                <a:spcPct val="118000"/>
              </a:lnSpc>
              <a:spcBef>
                <a:spcPts val="0"/>
              </a:spcBef>
              <a:spcAft>
                <a:spcPts val="0"/>
              </a:spcAft>
              <a:defRPr sz="1560" b="0">
                <a:solidFill>
                  <a:srgbClr val="CFE8DF"/>
                </a:solidFill>
                <a:latin typeface="Nimbus Sans"/>
              </a:defRPr>
            </a:pPr>
            <a:r>
              <a:t>Find relevant peers.</a:t>
            </a:r>
          </a:p>
        </p:txBody>
      </p:sp>
      <p:sp>
        <p:nvSpPr>
          <p:cNvPr id="11" name="Rectangle 10"/>
          <p:cNvSpPr/>
          <p:nvPr/>
        </p:nvSpPr>
        <p:spPr>
          <a:xfrm>
            <a:off x="4305300" y="3741420"/>
            <a:ext cx="3581400" cy="30480"/>
          </a:xfrm>
          <a:prstGeom prst="rect">
            <a:avLst/>
          </a:prstGeom>
          <a:solidFill>
            <a:srgbClr val="CF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05300" y="4114800"/>
            <a:ext cx="3505200" cy="510540"/>
          </a:xfrm>
          <a:prstGeom prst="rect">
            <a:avLst/>
          </a:prstGeom>
          <a:noFill/>
        </p:spPr>
        <p:txBody>
          <a:bodyPr wrap="none" lIns="0" rIns="0" tIns="0" bIns="0">
            <a:spAutoFit/>
          </a:bodyPr>
          <a:lstStyle/>
          <a:p>
            <a:pPr>
              <a:lnSpc>
                <a:spcPct val="118000"/>
              </a:lnSpc>
              <a:spcBef>
                <a:spcPts val="0"/>
              </a:spcBef>
              <a:spcAft>
                <a:spcPts val="0"/>
              </a:spcAft>
              <a:defRPr sz="2640" b="1">
                <a:solidFill>
                  <a:srgbClr val="F8F6F0"/>
                </a:solidFill>
                <a:latin typeface="Nimbus Sans"/>
              </a:defRPr>
            </a:pPr>
            <a:r>
              <a:t>Exchange</a:t>
            </a:r>
          </a:p>
        </p:txBody>
      </p:sp>
      <p:sp>
        <p:nvSpPr>
          <p:cNvPr id="13" name="TextBox 12"/>
          <p:cNvSpPr txBox="1"/>
          <p:nvPr/>
        </p:nvSpPr>
        <p:spPr>
          <a:xfrm>
            <a:off x="4305300" y="4625340"/>
            <a:ext cx="3543300" cy="350520"/>
          </a:xfrm>
          <a:prstGeom prst="rect">
            <a:avLst/>
          </a:prstGeom>
          <a:noFill/>
        </p:spPr>
        <p:txBody>
          <a:bodyPr wrap="none" lIns="0" rIns="0" tIns="0" bIns="0">
            <a:spAutoFit/>
          </a:bodyPr>
          <a:lstStyle/>
          <a:p>
            <a:pPr>
              <a:lnSpc>
                <a:spcPct val="118000"/>
              </a:lnSpc>
              <a:spcBef>
                <a:spcPts val="0"/>
              </a:spcBef>
              <a:spcAft>
                <a:spcPts val="0"/>
              </a:spcAft>
              <a:defRPr sz="1560" b="0">
                <a:solidFill>
                  <a:srgbClr val="CFE8DF"/>
                </a:solidFill>
                <a:latin typeface="Nimbus Sans"/>
              </a:defRPr>
            </a:pPr>
            <a:r>
              <a:t>Learn through contribution.</a:t>
            </a:r>
          </a:p>
        </p:txBody>
      </p:sp>
      <p:sp>
        <p:nvSpPr>
          <p:cNvPr id="14" name="Rectangle 13"/>
          <p:cNvSpPr/>
          <p:nvPr/>
        </p:nvSpPr>
        <p:spPr>
          <a:xfrm>
            <a:off x="8122920" y="3741420"/>
            <a:ext cx="3581400" cy="30480"/>
          </a:xfrm>
          <a:prstGeom prst="rect">
            <a:avLst/>
          </a:prstGeom>
          <a:solidFill>
            <a:srgbClr val="CF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2920" y="4114800"/>
            <a:ext cx="3505200" cy="510540"/>
          </a:xfrm>
          <a:prstGeom prst="rect">
            <a:avLst/>
          </a:prstGeom>
          <a:noFill/>
        </p:spPr>
        <p:txBody>
          <a:bodyPr wrap="none" lIns="0" rIns="0" tIns="0" bIns="0">
            <a:spAutoFit/>
          </a:bodyPr>
          <a:lstStyle/>
          <a:p>
            <a:pPr>
              <a:lnSpc>
                <a:spcPct val="118000"/>
              </a:lnSpc>
              <a:spcBef>
                <a:spcPts val="0"/>
              </a:spcBef>
              <a:spcAft>
                <a:spcPts val="0"/>
              </a:spcAft>
              <a:defRPr sz="2640" b="1">
                <a:solidFill>
                  <a:srgbClr val="F8F6F0"/>
                </a:solidFill>
                <a:latin typeface="Nimbus Sans"/>
              </a:defRPr>
            </a:pPr>
            <a:r>
              <a:t>Grow</a:t>
            </a:r>
          </a:p>
        </p:txBody>
      </p:sp>
      <p:sp>
        <p:nvSpPr>
          <p:cNvPr id="16" name="TextBox 15"/>
          <p:cNvSpPr txBox="1"/>
          <p:nvPr/>
        </p:nvSpPr>
        <p:spPr>
          <a:xfrm>
            <a:off x="8122920" y="4625340"/>
            <a:ext cx="3543300" cy="350520"/>
          </a:xfrm>
          <a:prstGeom prst="rect">
            <a:avLst/>
          </a:prstGeom>
          <a:noFill/>
        </p:spPr>
        <p:txBody>
          <a:bodyPr wrap="none" lIns="0" rIns="0" tIns="0" bIns="0">
            <a:spAutoFit/>
          </a:bodyPr>
          <a:lstStyle/>
          <a:p>
            <a:pPr>
              <a:lnSpc>
                <a:spcPct val="118000"/>
              </a:lnSpc>
              <a:spcBef>
                <a:spcPts val="0"/>
              </a:spcBef>
              <a:spcAft>
                <a:spcPts val="0"/>
              </a:spcAft>
              <a:defRPr sz="1560" b="0">
                <a:solidFill>
                  <a:srgbClr val="CFE8DF"/>
                </a:solidFill>
                <a:latin typeface="Nimbus Sans"/>
              </a:defRPr>
            </a:pPr>
            <a:r>
              <a:t>Build skills and connections.</a:t>
            </a:r>
          </a:p>
        </p:txBody>
      </p:sp>
      <p:sp>
        <p:nvSpPr>
          <p:cNvPr id="17" name="Rounded Rectangle 16"/>
          <p:cNvSpPr/>
          <p:nvPr/>
        </p:nvSpPr>
        <p:spPr>
          <a:xfrm>
            <a:off x="487680" y="5509260"/>
            <a:ext cx="11216640" cy="525780"/>
          </a:xfrm>
          <a:prstGeom prst="roundRect">
            <a:avLst>
              <a:gd name="adj" fmla="val 12000"/>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1040" y="5638800"/>
            <a:ext cx="2286000" cy="396240"/>
          </a:xfrm>
          <a:prstGeom prst="rect">
            <a:avLst/>
          </a:prstGeom>
          <a:noFill/>
        </p:spPr>
        <p:txBody>
          <a:bodyPr wrap="none" lIns="0" rIns="0" tIns="0" bIns="0">
            <a:spAutoFit/>
          </a:bodyPr>
          <a:lstStyle/>
          <a:p>
            <a:pPr>
              <a:lnSpc>
                <a:spcPct val="118000"/>
              </a:lnSpc>
              <a:spcBef>
                <a:spcPts val="0"/>
              </a:spcBef>
              <a:spcAft>
                <a:spcPts val="0"/>
              </a:spcAft>
              <a:defRPr sz="1859" b="1">
                <a:solidFill>
                  <a:srgbClr val="841329"/>
                </a:solidFill>
                <a:latin typeface="Nimbus Sans"/>
              </a:defRPr>
            </a:pPr>
            <a:r>
              <a:t>SkillSwap</a:t>
            </a:r>
          </a:p>
        </p:txBody>
      </p:sp>
      <p:sp>
        <p:nvSpPr>
          <p:cNvPr id="19" name="TextBox 18"/>
          <p:cNvSpPr txBox="1"/>
          <p:nvPr/>
        </p:nvSpPr>
        <p:spPr>
          <a:xfrm>
            <a:off x="3581400" y="5661660"/>
            <a:ext cx="7924799" cy="373380"/>
          </a:xfrm>
          <a:prstGeom prst="rect">
            <a:avLst/>
          </a:prstGeom>
          <a:noFill/>
        </p:spPr>
        <p:txBody>
          <a:bodyPr wrap="none" lIns="0" rIns="0" tIns="0" bIns="0">
            <a:spAutoFit/>
          </a:bodyPr>
          <a:lstStyle/>
          <a:p>
            <a:pPr>
              <a:lnSpc>
                <a:spcPct val="118000"/>
              </a:lnSpc>
              <a:spcBef>
                <a:spcPts val="0"/>
              </a:spcBef>
              <a:spcAft>
                <a:spcPts val="0"/>
              </a:spcAft>
              <a:defRPr sz="1680" b="0">
                <a:solidFill>
                  <a:srgbClr val="005348"/>
                </a:solidFill>
                <a:latin typeface="Nimbus Sans"/>
              </a:defRPr>
            </a:pPr>
            <a:r>
              <a:t>Share what you know. Learn what comes next.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5348"/>
        </a:solidFill>
        <a:effectLst/>
      </p:bgPr>
    </p:bg>
    <p:spTree>
      <p:nvGrpSpPr>
        <p:cNvPr id="1" name=""/>
        <p:cNvGrpSpPr/>
        <p:nvPr/>
      </p:nvGrpSpPr>
      <p:grpSpPr/>
      <p:sp>
        <p:nvSpPr>
          <p:cNvPr id="2" name="TextBox 1"/>
          <p:cNvSpPr txBox="1"/>
          <p:nvPr/>
        </p:nvSpPr>
        <p:spPr>
          <a:xfrm>
            <a:off x="487680" y="259080"/>
            <a:ext cx="5334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F8F6F0"/>
                </a:solidFill>
                <a:latin typeface="Nimbus Sans"/>
              </a:defRPr>
            </a:pPr>
            <a:r>
              <a:t>SKILLSWAP  /  UI DESIGN</a:t>
            </a:r>
          </a:p>
        </p:txBody>
      </p:sp>
      <p:sp>
        <p:nvSpPr>
          <p:cNvPr id="3" name="TextBox 2"/>
          <p:cNvSpPr txBox="1"/>
          <p:nvPr/>
        </p:nvSpPr>
        <p:spPr>
          <a:xfrm>
            <a:off x="10934700" y="259080"/>
            <a:ext cx="800100" cy="281940"/>
          </a:xfrm>
          <a:prstGeom prst="rect">
            <a:avLst/>
          </a:prstGeom>
          <a:noFill/>
        </p:spPr>
        <p:txBody>
          <a:bodyPr wrap="none" lIns="0" rIns="0" tIns="0" bIns="0">
            <a:spAutoFit/>
          </a:bodyPr>
          <a:lstStyle/>
          <a:p>
            <a:pPr>
              <a:lnSpc>
                <a:spcPct val="118000"/>
              </a:lnSpc>
              <a:spcBef>
                <a:spcPts val="0"/>
              </a:spcBef>
              <a:spcAft>
                <a:spcPts val="0"/>
              </a:spcAft>
              <a:defRPr sz="1080" b="0">
                <a:solidFill>
                  <a:srgbClr val="F8F6F0"/>
                </a:solidFill>
                <a:latin typeface="Nimbus Sans"/>
              </a:defRPr>
            </a:pPr>
            <a:r>
              <a:t>12 / 12</a:t>
            </a:r>
          </a:p>
        </p:txBody>
      </p:sp>
      <p:sp>
        <p:nvSpPr>
          <p:cNvPr id="4" name="Rectangle 3"/>
          <p:cNvSpPr/>
          <p:nvPr/>
        </p:nvSpPr>
        <p:spPr>
          <a:xfrm>
            <a:off x="487680" y="579120"/>
            <a:ext cx="11216640" cy="15240"/>
          </a:xfrm>
          <a:prstGeom prst="rect">
            <a:avLst/>
          </a:prstGeom>
          <a:solidFill>
            <a:srgbClr val="CF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80" y="853440"/>
            <a:ext cx="10668000" cy="281940"/>
          </a:xfrm>
          <a:prstGeom prst="rect">
            <a:avLst/>
          </a:prstGeom>
          <a:noFill/>
        </p:spPr>
        <p:txBody>
          <a:bodyPr wrap="none" lIns="0" rIns="0" tIns="0" bIns="0">
            <a:spAutoFit/>
          </a:bodyPr>
          <a:lstStyle/>
          <a:p>
            <a:pPr>
              <a:lnSpc>
                <a:spcPct val="118000"/>
              </a:lnSpc>
              <a:spcBef>
                <a:spcPts val="0"/>
              </a:spcBef>
              <a:spcAft>
                <a:spcPts val="0"/>
              </a:spcAft>
              <a:defRPr sz="1080" b="1">
                <a:solidFill>
                  <a:srgbClr val="CFE8DF"/>
                </a:solidFill>
                <a:latin typeface="Nimbus Sans"/>
              </a:defRPr>
            </a:pPr>
            <a:r>
              <a:t>THANK YOU / QUESTIONS &amp; DISCUSSION</a:t>
            </a:r>
          </a:p>
        </p:txBody>
      </p:sp>
      <p:sp>
        <p:nvSpPr>
          <p:cNvPr id="6" name="TextBox 5"/>
          <p:cNvSpPr txBox="1"/>
          <p:nvPr/>
        </p:nvSpPr>
        <p:spPr>
          <a:xfrm>
            <a:off x="487680" y="6515100"/>
            <a:ext cx="7620000" cy="251460"/>
          </a:xfrm>
          <a:prstGeom prst="rect">
            <a:avLst/>
          </a:prstGeom>
          <a:noFill/>
        </p:spPr>
        <p:txBody>
          <a:bodyPr wrap="none" lIns="0" rIns="0" tIns="0" bIns="0">
            <a:spAutoFit/>
          </a:bodyPr>
          <a:lstStyle/>
          <a:p>
            <a:pPr>
              <a:lnSpc>
                <a:spcPct val="118000"/>
              </a:lnSpc>
              <a:spcBef>
                <a:spcPts val="0"/>
              </a:spcBef>
              <a:spcAft>
                <a:spcPts val="0"/>
              </a:spcAft>
              <a:defRPr sz="900" b="0">
                <a:solidFill>
                  <a:srgbClr val="F8F6F0"/>
                </a:solidFill>
                <a:latin typeface="Nimbus Sans"/>
              </a:defRPr>
            </a:pPr>
            <a:r>
              <a:t>CAMPUS CONNECTIONS, BUILT AROUND SKILLS</a:t>
            </a:r>
          </a:p>
        </p:txBody>
      </p:sp>
      <p:sp>
        <p:nvSpPr>
          <p:cNvPr id="7" name="TextBox 6"/>
          <p:cNvSpPr txBox="1"/>
          <p:nvPr/>
        </p:nvSpPr>
        <p:spPr>
          <a:xfrm>
            <a:off x="487680" y="1752600"/>
            <a:ext cx="11201400" cy="1303020"/>
          </a:xfrm>
          <a:prstGeom prst="rect">
            <a:avLst/>
          </a:prstGeom>
          <a:noFill/>
        </p:spPr>
        <p:txBody>
          <a:bodyPr wrap="none" lIns="0" rIns="0" tIns="0" bIns="0">
            <a:spAutoFit/>
          </a:bodyPr>
          <a:lstStyle/>
          <a:p>
            <a:pPr>
              <a:lnSpc>
                <a:spcPct val="118000"/>
              </a:lnSpc>
              <a:spcBef>
                <a:spcPts val="0"/>
              </a:spcBef>
              <a:spcAft>
                <a:spcPts val="0"/>
              </a:spcAft>
              <a:defRPr sz="7920" b="0">
                <a:solidFill>
                  <a:srgbClr val="F8F6F0"/>
                </a:solidFill>
                <a:latin typeface="Nimbus Roman"/>
              </a:defRPr>
            </a:pPr>
            <a:r>
              <a:t>Thank you.</a:t>
            </a:r>
          </a:p>
        </p:txBody>
      </p:sp>
      <p:sp>
        <p:nvSpPr>
          <p:cNvPr id="8" name="TextBox 7"/>
          <p:cNvSpPr txBox="1"/>
          <p:nvPr/>
        </p:nvSpPr>
        <p:spPr>
          <a:xfrm>
            <a:off x="533400" y="3185160"/>
            <a:ext cx="10668000" cy="1158240"/>
          </a:xfrm>
          <a:prstGeom prst="rect">
            <a:avLst/>
          </a:prstGeom>
          <a:noFill/>
        </p:spPr>
        <p:txBody>
          <a:bodyPr wrap="none" lIns="0" rIns="0" tIns="0" bIns="0">
            <a:spAutoFit/>
          </a:bodyPr>
          <a:lstStyle/>
          <a:p>
            <a:pPr>
              <a:lnSpc>
                <a:spcPct val="118000"/>
              </a:lnSpc>
              <a:spcBef>
                <a:spcPts val="0"/>
              </a:spcBef>
              <a:spcAft>
                <a:spcPts val="0"/>
              </a:spcAft>
              <a:defRPr sz="3479" b="0">
                <a:solidFill>
                  <a:srgbClr val="CFE8DF"/>
                </a:solidFill>
                <a:latin typeface="Nimbus Roman"/>
              </a:defRPr>
            </a:pPr>
            <a:r>
              <a:t>Let’s make learning</a:t>
            </a:r>
          </a:p>
          <a:p>
            <a:pPr>
              <a:lnSpc>
                <a:spcPct val="118000"/>
              </a:lnSpc>
              <a:spcBef>
                <a:spcPts val="0"/>
              </a:spcBef>
              <a:spcAft>
                <a:spcPts val="0"/>
              </a:spcAft>
              <a:defRPr sz="3479" b="0">
                <a:solidFill>
                  <a:srgbClr val="CFE8DF"/>
                </a:solidFill>
                <a:latin typeface="Nimbus Roman"/>
              </a:defRPr>
            </a:pPr>
            <a:r>
              <a:t>a campus connection.</a:t>
            </a:r>
          </a:p>
        </p:txBody>
      </p:sp>
      <p:sp>
        <p:nvSpPr>
          <p:cNvPr id="9" name="Rectangle 8"/>
          <p:cNvSpPr/>
          <p:nvPr/>
        </p:nvSpPr>
        <p:spPr>
          <a:xfrm>
            <a:off x="518160" y="4716780"/>
            <a:ext cx="11109960" cy="15240"/>
          </a:xfrm>
          <a:prstGeom prst="rect">
            <a:avLst/>
          </a:prstGeom>
          <a:solidFill>
            <a:srgbClr val="CF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3400" y="5074920"/>
            <a:ext cx="10515600" cy="441960"/>
          </a:xfrm>
          <a:prstGeom prst="rect">
            <a:avLst/>
          </a:prstGeom>
          <a:noFill/>
        </p:spPr>
        <p:txBody>
          <a:bodyPr wrap="none" lIns="0" rIns="0" tIns="0" bIns="0">
            <a:spAutoFit/>
          </a:bodyPr>
          <a:lstStyle/>
          <a:p>
            <a:pPr>
              <a:lnSpc>
                <a:spcPct val="118000"/>
              </a:lnSpc>
              <a:spcBef>
                <a:spcPts val="0"/>
              </a:spcBef>
              <a:spcAft>
                <a:spcPts val="0"/>
              </a:spcAft>
              <a:defRPr sz="2160" b="1">
                <a:solidFill>
                  <a:srgbClr val="F8F6F0"/>
                </a:solidFill>
                <a:latin typeface="Nimbus Sans"/>
              </a:defRPr>
            </a:pPr>
            <a:r>
              <a:t>Questions &amp; discussion</a:t>
            </a:r>
          </a:p>
        </p:txBody>
      </p:sp>
      <p:sp>
        <p:nvSpPr>
          <p:cNvPr id="11" name="Rounded Rectangle 10"/>
          <p:cNvSpPr/>
          <p:nvPr/>
        </p:nvSpPr>
        <p:spPr>
          <a:xfrm>
            <a:off x="518160" y="5661660"/>
            <a:ext cx="11109960" cy="502920"/>
          </a:xfrm>
          <a:prstGeom prst="roundRect">
            <a:avLst>
              <a:gd name="adj" fmla="val 12000"/>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6280" y="5783580"/>
            <a:ext cx="2895600" cy="403860"/>
          </a:xfrm>
          <a:prstGeom prst="rect">
            <a:avLst/>
          </a:prstGeom>
          <a:noFill/>
        </p:spPr>
        <p:txBody>
          <a:bodyPr wrap="none" lIns="0" rIns="0" tIns="0" bIns="0">
            <a:spAutoFit/>
          </a:bodyPr>
          <a:lstStyle/>
          <a:p>
            <a:pPr>
              <a:lnSpc>
                <a:spcPct val="118000"/>
              </a:lnSpc>
              <a:spcBef>
                <a:spcPts val="0"/>
              </a:spcBef>
              <a:spcAft>
                <a:spcPts val="0"/>
              </a:spcAft>
              <a:defRPr sz="1920" b="1">
                <a:solidFill>
                  <a:srgbClr val="841329"/>
                </a:solidFill>
                <a:latin typeface="Nimbus Sans"/>
              </a:defRPr>
            </a:pPr>
            <a:r>
              <a:t>SkillSwap</a:t>
            </a:r>
          </a:p>
        </p:txBody>
      </p:sp>
      <p:sp>
        <p:nvSpPr>
          <p:cNvPr id="13" name="TextBox 12"/>
          <p:cNvSpPr txBox="1"/>
          <p:nvPr/>
        </p:nvSpPr>
        <p:spPr>
          <a:xfrm>
            <a:off x="6865620" y="5814060"/>
            <a:ext cx="4495800" cy="358140"/>
          </a:xfrm>
          <a:prstGeom prst="rect">
            <a:avLst/>
          </a:prstGeom>
          <a:noFill/>
        </p:spPr>
        <p:txBody>
          <a:bodyPr wrap="none" lIns="0" rIns="0" tIns="0" bIns="0">
            <a:spAutoFit/>
          </a:bodyPr>
          <a:lstStyle/>
          <a:p>
            <a:pPr>
              <a:lnSpc>
                <a:spcPct val="118000"/>
              </a:lnSpc>
              <a:spcBef>
                <a:spcPts val="0"/>
              </a:spcBef>
              <a:spcAft>
                <a:spcPts val="0"/>
              </a:spcAft>
              <a:defRPr sz="1620" b="0">
                <a:solidFill>
                  <a:srgbClr val="005348"/>
                </a:solidFill>
                <a:latin typeface="Nimbus Sans"/>
              </a:defRPr>
            </a:pPr>
            <a:r>
              <a:t>Teach. Learn. Grow.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