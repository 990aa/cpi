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Heading Now 71-78" charset="1" panose="00000000000000000000"/>
      <p:regular r:id="rId20"/>
    </p:embeddedFont>
    <p:embeddedFont>
      <p:font typeface="Gagalin" charset="1" panose="00000500000000000000"/>
      <p:regular r:id="rId21"/>
    </p:embeddedFont>
    <p:embeddedFont>
      <p:font typeface="Proxima Nova" charset="1" panose="02000506030000020004"/>
      <p:regular r:id="rId22"/>
    </p:embeddedFont>
    <p:embeddedFont>
      <p:font typeface="Noto Serif" charset="1" panose="02020600060500020200"/>
      <p:regular r:id="rId23"/>
    </p:embeddedFont>
    <p:embeddedFont>
      <p:font typeface="TT Firs Neue Bold" charset="1" panose="02000803030000020004"/>
      <p:regular r:id="rId24"/>
    </p:embeddedFont>
    <p:embeddedFont>
      <p:font typeface="Finger Paint" charset="1" panose="020B0506040000020004"/>
      <p:regular r:id="rId25"/>
    </p:embeddedFont>
    <p:embeddedFont>
      <p:font typeface="TT Firs Neue" charset="1" panose="02000503030000020004"/>
      <p:regular r:id="rId26"/>
    </p:embeddedFont>
    <p:embeddedFont>
      <p:font typeface="Bukhari Scrip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38042" y="1659809"/>
            <a:ext cx="5670467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Creative Problem Solving and Innovation - Presentation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9381128" y="45487"/>
            <a:ext cx="0" cy="1028700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956775" y="-474172"/>
            <a:ext cx="2858279" cy="287239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992007" y="277363"/>
            <a:ext cx="2889058" cy="1854250"/>
          </a:xfrm>
          <a:custGeom>
            <a:avLst/>
            <a:gdLst/>
            <a:ahLst/>
            <a:cxnLst/>
            <a:rect r="r" b="b" t="t" l="l"/>
            <a:pathLst>
              <a:path h="1854250" w="2889058">
                <a:moveTo>
                  <a:pt x="0" y="0"/>
                </a:moveTo>
                <a:lnTo>
                  <a:pt x="2889058" y="0"/>
                </a:lnTo>
                <a:lnTo>
                  <a:pt x="2889058" y="1854251"/>
                </a:lnTo>
                <a:lnTo>
                  <a:pt x="0" y="185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-2185421" y="962025"/>
            <a:ext cx="21602122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932935" y="6464329"/>
            <a:ext cx="1355065" cy="1355065"/>
          </a:xfrm>
          <a:custGeom>
            <a:avLst/>
            <a:gdLst/>
            <a:ahLst/>
            <a:cxnLst/>
            <a:rect r="r" b="b" t="t" l="l"/>
            <a:pathLst>
              <a:path h="1355065" w="1355065">
                <a:moveTo>
                  <a:pt x="0" y="0"/>
                </a:moveTo>
                <a:lnTo>
                  <a:pt x="1355065" y="0"/>
                </a:lnTo>
                <a:lnTo>
                  <a:pt x="1355065" y="1355065"/>
                </a:lnTo>
                <a:lnTo>
                  <a:pt x="0" y="1355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2935" y="7970231"/>
            <a:ext cx="1355065" cy="1355065"/>
          </a:xfrm>
          <a:custGeom>
            <a:avLst/>
            <a:gdLst/>
            <a:ahLst/>
            <a:cxnLst/>
            <a:rect r="r" b="b" t="t" l="l"/>
            <a:pathLst>
              <a:path h="1355065" w="1355065">
                <a:moveTo>
                  <a:pt x="0" y="0"/>
                </a:moveTo>
                <a:lnTo>
                  <a:pt x="1355065" y="0"/>
                </a:lnTo>
                <a:lnTo>
                  <a:pt x="1355065" y="1355066"/>
                </a:lnTo>
                <a:lnTo>
                  <a:pt x="0" y="1355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8544882"/>
            <a:ext cx="1190032" cy="1190032"/>
          </a:xfrm>
          <a:custGeom>
            <a:avLst/>
            <a:gdLst/>
            <a:ahLst/>
            <a:cxnLst/>
            <a:rect r="r" b="b" t="t" l="l"/>
            <a:pathLst>
              <a:path h="1190032" w="1190032">
                <a:moveTo>
                  <a:pt x="0" y="0"/>
                </a:moveTo>
                <a:lnTo>
                  <a:pt x="1190032" y="0"/>
                </a:lnTo>
                <a:lnTo>
                  <a:pt x="1190032" y="1190032"/>
                </a:lnTo>
                <a:lnTo>
                  <a:pt x="0" y="1190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37293" y="8394045"/>
            <a:ext cx="2506607" cy="344658"/>
          </a:xfrm>
          <a:custGeom>
            <a:avLst/>
            <a:gdLst/>
            <a:ahLst/>
            <a:cxnLst/>
            <a:rect r="r" b="b" t="t" l="l"/>
            <a:pathLst>
              <a:path h="344658" w="2506607">
                <a:moveTo>
                  <a:pt x="0" y="0"/>
                </a:moveTo>
                <a:lnTo>
                  <a:pt x="2506607" y="0"/>
                </a:lnTo>
                <a:lnTo>
                  <a:pt x="2506607" y="344659"/>
                </a:lnTo>
                <a:lnTo>
                  <a:pt x="0" y="3446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8464" y="1707434"/>
            <a:ext cx="8295436" cy="5665250"/>
          </a:xfrm>
          <a:custGeom>
            <a:avLst/>
            <a:gdLst/>
            <a:ahLst/>
            <a:cxnLst/>
            <a:rect r="r" b="b" t="t" l="l"/>
            <a:pathLst>
              <a:path h="5665250" w="8295436">
                <a:moveTo>
                  <a:pt x="0" y="0"/>
                </a:moveTo>
                <a:lnTo>
                  <a:pt x="8295436" y="0"/>
                </a:lnTo>
                <a:lnTo>
                  <a:pt x="8295436" y="5665249"/>
                </a:lnTo>
                <a:lnTo>
                  <a:pt x="0" y="56652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17" t="0" r="-131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27256" y="3345586"/>
            <a:ext cx="824938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spc="-363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SkillSwap-Campus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8042" y="4884002"/>
            <a:ext cx="720953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Learn.Teach.Repeat.</a:t>
            </a:r>
          </a:p>
          <a:p>
            <a:pPr algn="l">
              <a:lnSpc>
                <a:spcPts val="4199"/>
              </a:lnSpc>
            </a:pPr>
            <a:r>
              <a:rPr lang="en-US" sz="2999" u="sng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Trade skills, grow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19303" y="6141344"/>
            <a:ext cx="5581253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u="sng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BY: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ANSHUL PRAKASH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K.DHEERAJ SAI SUHAS REDDY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VEDA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SANJANA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ABDUL AHAD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FAIZAAN NASIR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ARNAV KESHAV SINHA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2722" y="1376763"/>
            <a:ext cx="7967219" cy="648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90"/>
              </a:lnSpc>
              <a:spcBef>
                <a:spcPct val="0"/>
              </a:spcBef>
            </a:pPr>
            <a:r>
              <a:rPr lang="en-US" sz="6890" spc="-379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Ab</a:t>
            </a:r>
            <a:r>
              <a:rPr lang="en-US" sz="6890" spc="-379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ou</a:t>
            </a:r>
            <a:r>
              <a:rPr lang="en-US" sz="6890" spc="-379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t The Idea</a:t>
            </a:r>
          </a:p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sz="3654" spc="-200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Everyone knows something.</a:t>
            </a:r>
          </a:p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sz="3654" spc="-200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Everyone wants to learn something.</a:t>
            </a:r>
          </a:p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54"/>
              </a:lnSpc>
              <a:spcBef>
                <a:spcPct val="0"/>
              </a:spcBef>
            </a:pPr>
            <a:r>
              <a:rPr lang="en-US" sz="3454" spc="-189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But why is a Platform like SkillSwap needed??</a:t>
            </a:r>
          </a:p>
          <a:p>
            <a:pPr algn="l" marL="0" indent="0" lvl="0">
              <a:lnSpc>
                <a:spcPts val="29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43"/>
              </a:lnSpc>
              <a:spcBef>
                <a:spcPct val="0"/>
              </a:spcBef>
            </a:pPr>
            <a:r>
              <a:rPr lang="en-US" sz="2943" spc="-161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A student may want to learn DSA, UI/UX, Public speaking, Python, video editing, guitar, etc., while someone nearby already knows it.</a:t>
            </a:r>
          </a:p>
          <a:p>
            <a:pPr algn="l" marL="0" indent="0" lvl="0">
              <a:lnSpc>
                <a:spcPts val="29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43"/>
              </a:lnSpc>
              <a:spcBef>
                <a:spcPct val="0"/>
              </a:spcBef>
            </a:pPr>
            <a:r>
              <a:rPr lang="en-US" sz="2943" spc="-161" strike="noStrike" u="none">
                <a:solidFill>
                  <a:srgbClr val="7F4F2B"/>
                </a:solidFill>
                <a:latin typeface="Noto Serif"/>
                <a:ea typeface="Noto Serif"/>
                <a:cs typeface="Noto Serif"/>
                <a:sym typeface="Noto Serif"/>
              </a:rPr>
              <a:t>The problem is not lack of knowledge ,its lack of connection.</a:t>
            </a:r>
          </a:p>
          <a:p>
            <a:pPr algn="l" marL="0" indent="0" lvl="0">
              <a:lnSpc>
                <a:spcPts val="2601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06214" y="35052"/>
            <a:ext cx="2553922" cy="3788631"/>
          </a:xfrm>
          <a:custGeom>
            <a:avLst/>
            <a:gdLst/>
            <a:ahLst/>
            <a:cxnLst/>
            <a:rect r="r" b="b" t="t" l="l"/>
            <a:pathLst>
              <a:path h="3788631" w="2553922">
                <a:moveTo>
                  <a:pt x="0" y="0"/>
                </a:moveTo>
                <a:lnTo>
                  <a:pt x="2553922" y="0"/>
                </a:lnTo>
                <a:lnTo>
                  <a:pt x="2553922" y="3788631"/>
                </a:lnTo>
                <a:lnTo>
                  <a:pt x="0" y="378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80336" y="1589553"/>
            <a:ext cx="6420727" cy="6481932"/>
            <a:chOff x="0" y="0"/>
            <a:chExt cx="6671943" cy="67355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71943" cy="6735542"/>
            </a:xfrm>
            <a:custGeom>
              <a:avLst/>
              <a:gdLst/>
              <a:ahLst/>
              <a:cxnLst/>
              <a:rect r="r" b="b" t="t" l="l"/>
              <a:pathLst>
                <a:path h="6735542" w="6671943">
                  <a:moveTo>
                    <a:pt x="6671943" y="1476376"/>
                  </a:moveTo>
                  <a:lnTo>
                    <a:pt x="6671943" y="5259166"/>
                  </a:lnTo>
                  <a:cubicBezTo>
                    <a:pt x="6671943" y="6074234"/>
                    <a:pt x="6166871" y="6735542"/>
                    <a:pt x="5544364" y="6735542"/>
                  </a:cubicBezTo>
                  <a:cubicBezTo>
                    <a:pt x="4999801" y="6735542"/>
                    <a:pt x="4545651" y="6230717"/>
                    <a:pt x="4440688" y="5559884"/>
                  </a:cubicBezTo>
                  <a:cubicBezTo>
                    <a:pt x="4334685" y="6230717"/>
                    <a:pt x="3880535" y="6735542"/>
                    <a:pt x="3335972" y="6735542"/>
                  </a:cubicBezTo>
                  <a:cubicBezTo>
                    <a:pt x="2791408" y="6735542"/>
                    <a:pt x="2337259" y="6230717"/>
                    <a:pt x="2232295" y="5559884"/>
                  </a:cubicBezTo>
                  <a:cubicBezTo>
                    <a:pt x="2126292" y="6230717"/>
                    <a:pt x="1672143" y="6735542"/>
                    <a:pt x="1128619" y="6735542"/>
                  </a:cubicBezTo>
                  <a:cubicBezTo>
                    <a:pt x="505072" y="6735542"/>
                    <a:pt x="0" y="6074234"/>
                    <a:pt x="0" y="5259166"/>
                  </a:cubicBezTo>
                  <a:lnTo>
                    <a:pt x="0" y="1476376"/>
                  </a:lnTo>
                  <a:cubicBezTo>
                    <a:pt x="0" y="661308"/>
                    <a:pt x="505072" y="0"/>
                    <a:pt x="1127579" y="0"/>
                  </a:cubicBezTo>
                  <a:cubicBezTo>
                    <a:pt x="1672143" y="0"/>
                    <a:pt x="2126292" y="504825"/>
                    <a:pt x="2231256" y="1175658"/>
                  </a:cubicBezTo>
                  <a:cubicBezTo>
                    <a:pt x="2337259" y="504825"/>
                    <a:pt x="2791408" y="0"/>
                    <a:pt x="3335972" y="0"/>
                  </a:cubicBezTo>
                  <a:cubicBezTo>
                    <a:pt x="3880535" y="0"/>
                    <a:pt x="4334685" y="504825"/>
                    <a:pt x="4439648" y="1175658"/>
                  </a:cubicBezTo>
                  <a:cubicBezTo>
                    <a:pt x="4545651" y="504825"/>
                    <a:pt x="4999801" y="0"/>
                    <a:pt x="5544364" y="0"/>
                  </a:cubicBezTo>
                  <a:cubicBezTo>
                    <a:pt x="6166871" y="0"/>
                    <a:pt x="6671943" y="661308"/>
                    <a:pt x="6671943" y="1476376"/>
                  </a:cubicBezTo>
                  <a:close/>
                </a:path>
              </a:pathLst>
            </a:custGeom>
            <a:blipFill>
              <a:blip r:embed="rId4"/>
              <a:stretch>
                <a:fillRect l="-476" t="0" r="-476" b="0"/>
              </a:stretch>
            </a:blipFill>
            <a:ln w="38100" cap="sq">
              <a:solidFill>
                <a:srgbClr val="BC9B7D"/>
              </a:solidFill>
              <a:prstDash val="solid"/>
              <a:miter/>
            </a:ln>
          </p:spPr>
        </p:sp>
      </p:grpSp>
      <p:sp>
        <p:nvSpPr>
          <p:cNvPr name="AutoShape 6" id="6"/>
          <p:cNvSpPr/>
          <p:nvPr/>
        </p:nvSpPr>
        <p:spPr>
          <a:xfrm>
            <a:off x="9816296" y="0"/>
            <a:ext cx="0" cy="1028700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343526" y="1028700"/>
            <a:ext cx="2687053" cy="2687053"/>
          </a:xfrm>
          <a:custGeom>
            <a:avLst/>
            <a:gdLst/>
            <a:ahLst/>
            <a:cxnLst/>
            <a:rect r="r" b="b" t="t" l="l"/>
            <a:pathLst>
              <a:path h="2687053" w="2687053">
                <a:moveTo>
                  <a:pt x="0" y="0"/>
                </a:moveTo>
                <a:lnTo>
                  <a:pt x="2687052" y="0"/>
                </a:lnTo>
                <a:lnTo>
                  <a:pt x="2687052" y="2687053"/>
                </a:lnTo>
                <a:lnTo>
                  <a:pt x="0" y="2687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8152785" y="9258300"/>
            <a:ext cx="10135215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387156" y="7822103"/>
            <a:ext cx="2858279" cy="287239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87156" y="-500168"/>
            <a:ext cx="2858279" cy="287239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55068" y="9775792"/>
            <a:ext cx="1422527" cy="1422527"/>
          </a:xfrm>
          <a:custGeom>
            <a:avLst/>
            <a:gdLst/>
            <a:ahLst/>
            <a:cxnLst/>
            <a:rect r="r" b="b" t="t" l="l"/>
            <a:pathLst>
              <a:path h="1422527" w="1422527">
                <a:moveTo>
                  <a:pt x="0" y="0"/>
                </a:moveTo>
                <a:lnTo>
                  <a:pt x="1422527" y="0"/>
                </a:lnTo>
                <a:lnTo>
                  <a:pt x="1422527" y="1422527"/>
                </a:lnTo>
                <a:lnTo>
                  <a:pt x="0" y="142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8209737"/>
            <a:ext cx="1355065" cy="1355065"/>
          </a:xfrm>
          <a:custGeom>
            <a:avLst/>
            <a:gdLst/>
            <a:ahLst/>
            <a:cxnLst/>
            <a:rect r="r" b="b" t="t" l="l"/>
            <a:pathLst>
              <a:path h="1355065" w="1355065">
                <a:moveTo>
                  <a:pt x="0" y="0"/>
                </a:moveTo>
                <a:lnTo>
                  <a:pt x="1355065" y="0"/>
                </a:lnTo>
                <a:lnTo>
                  <a:pt x="1355065" y="1355066"/>
                </a:lnTo>
                <a:lnTo>
                  <a:pt x="0" y="1355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7666" y="465986"/>
            <a:ext cx="34974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SkillSwap - Campus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1727" y="336307"/>
            <a:ext cx="17664545" cy="9607793"/>
            <a:chOff x="0" y="0"/>
            <a:chExt cx="23552727" cy="12810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52727" cy="12810391"/>
            </a:xfrm>
            <a:custGeom>
              <a:avLst/>
              <a:gdLst/>
              <a:ahLst/>
              <a:cxnLst/>
              <a:rect r="r" b="b" t="t" l="l"/>
              <a:pathLst>
                <a:path h="12810391" w="23552727">
                  <a:moveTo>
                    <a:pt x="0" y="0"/>
                  </a:moveTo>
                  <a:lnTo>
                    <a:pt x="23552727" y="0"/>
                  </a:lnTo>
                  <a:lnTo>
                    <a:pt x="23552727" y="12810391"/>
                  </a:lnTo>
                  <a:lnTo>
                    <a:pt x="0" y="12810391"/>
                  </a:lnTo>
                  <a:close/>
                </a:path>
              </a:pathLst>
            </a:custGeom>
            <a:solidFill>
              <a:srgbClr val="2D563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552727" cy="12318266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C950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What stops the students from learning from people around them??</a:t>
              </a:r>
            </a:p>
            <a:p>
              <a:pPr algn="l">
                <a:lnSpc>
                  <a:spcPts val="6019"/>
                </a:lnSpc>
              </a:pP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The major issues concerning this problem are:</a:t>
              </a:r>
            </a:p>
            <a:p>
              <a:pPr algn="l">
                <a:lnSpc>
                  <a:spcPts val="4339"/>
                </a:lnSpc>
              </a:pP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*Invisible connections- Students often do not know who around them can teach the skill they want.</a:t>
              </a:r>
            </a:p>
            <a:p>
              <a:pPr algn="l">
                <a:lnSpc>
                  <a:spcPts val="4339"/>
                </a:lnSpc>
              </a:pP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*Platform Gap- Existing learning platforms are course-based, not person-based.</a:t>
              </a:r>
            </a:p>
            <a:p>
              <a:pPr algn="l">
                <a:lnSpc>
                  <a:spcPts val="4339"/>
                </a:lnSpc>
              </a:pP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*Social silos- Students stay inside familiar friend circles, so useful skills remian hidden.</a:t>
              </a:r>
            </a:p>
            <a:p>
              <a:pPr algn="l">
                <a:lnSpc>
                  <a:spcPts val="4339"/>
                </a:lnSpc>
              </a:pP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Finger Paint"/>
                  <a:ea typeface="Finger Paint"/>
                  <a:cs typeface="Finger Paint"/>
                  <a:sym typeface="Finger Paint"/>
                </a:rPr>
                <a:t>*Cost Barrier- Learning a new skill may mean paying for courses or using external platforms.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1400"/>
            <a:ext cx="9144000" cy="5654931"/>
            <a:chOff x="0" y="0"/>
            <a:chExt cx="2408296" cy="14893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1489365"/>
            </a:xfrm>
            <a:custGeom>
              <a:avLst/>
              <a:gdLst/>
              <a:ahLst/>
              <a:cxnLst/>
              <a:rect r="r" b="b" t="t" l="l"/>
              <a:pathLst>
                <a:path h="1489365" w="2408296">
                  <a:moveTo>
                    <a:pt x="43180" y="0"/>
                  </a:moveTo>
                  <a:lnTo>
                    <a:pt x="2365116" y="0"/>
                  </a:lnTo>
                  <a:cubicBezTo>
                    <a:pt x="2388964" y="0"/>
                    <a:pt x="2408296" y="19332"/>
                    <a:pt x="2408296" y="43180"/>
                  </a:cubicBezTo>
                  <a:lnTo>
                    <a:pt x="2408296" y="1446185"/>
                  </a:lnTo>
                  <a:cubicBezTo>
                    <a:pt x="2408296" y="1457637"/>
                    <a:pt x="2403747" y="1468620"/>
                    <a:pt x="2395649" y="1476718"/>
                  </a:cubicBezTo>
                  <a:cubicBezTo>
                    <a:pt x="2387551" y="1484815"/>
                    <a:pt x="2376568" y="1489365"/>
                    <a:pt x="2365116" y="1489365"/>
                  </a:cubicBezTo>
                  <a:lnTo>
                    <a:pt x="43180" y="1489365"/>
                  </a:lnTo>
                  <a:cubicBezTo>
                    <a:pt x="31728" y="1489365"/>
                    <a:pt x="20745" y="1484815"/>
                    <a:pt x="12647" y="1476718"/>
                  </a:cubicBezTo>
                  <a:cubicBezTo>
                    <a:pt x="4549" y="1468620"/>
                    <a:pt x="0" y="1457637"/>
                    <a:pt x="0" y="1446185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BC9B7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08296" cy="154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7F4F2B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 campus-only platform built around complementary skills and shared curiosity.</a:t>
              </a:r>
            </a:p>
            <a:p>
              <a:pPr algn="ctr">
                <a:lnSpc>
                  <a:spcPts val="4059"/>
                </a:lnSpc>
              </a:pPr>
            </a:p>
            <a:p>
              <a:pPr algn="ctr">
                <a:lnSpc>
                  <a:spcPts val="405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96179" y="-812043"/>
            <a:ext cx="3105227" cy="3105227"/>
          </a:xfrm>
          <a:custGeom>
            <a:avLst/>
            <a:gdLst/>
            <a:ahLst/>
            <a:cxnLst/>
            <a:rect r="r" b="b" t="t" l="l"/>
            <a:pathLst>
              <a:path h="3105227" w="3105227">
                <a:moveTo>
                  <a:pt x="0" y="0"/>
                </a:moveTo>
                <a:lnTo>
                  <a:pt x="3105227" y="0"/>
                </a:lnTo>
                <a:lnTo>
                  <a:pt x="3105227" y="3105228"/>
                </a:lnTo>
                <a:lnTo>
                  <a:pt x="0" y="3105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-835472" y="2583487"/>
            <a:ext cx="10135215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318792" y="158164"/>
            <a:ext cx="0" cy="1028700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306591" y="158164"/>
            <a:ext cx="1837409" cy="1837409"/>
          </a:xfrm>
          <a:custGeom>
            <a:avLst/>
            <a:gdLst/>
            <a:ahLst/>
            <a:cxnLst/>
            <a:rect r="r" b="b" t="t" l="l"/>
            <a:pathLst>
              <a:path h="1837409" w="1837409">
                <a:moveTo>
                  <a:pt x="0" y="0"/>
                </a:moveTo>
                <a:lnTo>
                  <a:pt x="1837409" y="0"/>
                </a:lnTo>
                <a:lnTo>
                  <a:pt x="1837409" y="1837409"/>
                </a:lnTo>
                <a:lnTo>
                  <a:pt x="0" y="1837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889653" y="8067666"/>
            <a:ext cx="2858279" cy="287239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218" y="9860276"/>
            <a:ext cx="1974965" cy="271558"/>
          </a:xfrm>
          <a:custGeom>
            <a:avLst/>
            <a:gdLst/>
            <a:ahLst/>
            <a:cxnLst/>
            <a:rect r="r" b="b" t="t" l="l"/>
            <a:pathLst>
              <a:path h="271558" w="1974965">
                <a:moveTo>
                  <a:pt x="0" y="0"/>
                </a:moveTo>
                <a:lnTo>
                  <a:pt x="1974964" y="0"/>
                </a:lnTo>
                <a:lnTo>
                  <a:pt x="1974964" y="271558"/>
                </a:lnTo>
                <a:lnTo>
                  <a:pt x="0" y="271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02496" y="2583487"/>
            <a:ext cx="7716783" cy="6030937"/>
          </a:xfrm>
          <a:custGeom>
            <a:avLst/>
            <a:gdLst/>
            <a:ahLst/>
            <a:cxnLst/>
            <a:rect r="r" b="b" t="t" l="l"/>
            <a:pathLst>
              <a:path h="6030937" w="7716783">
                <a:moveTo>
                  <a:pt x="0" y="0"/>
                </a:moveTo>
                <a:lnTo>
                  <a:pt x="7716782" y="0"/>
                </a:lnTo>
                <a:lnTo>
                  <a:pt x="7716782" y="6030936"/>
                </a:lnTo>
                <a:lnTo>
                  <a:pt x="0" y="6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719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1288" y="531519"/>
            <a:ext cx="632073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-374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What is SkillSwap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1288" y="109327"/>
            <a:ext cx="34820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- Campus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5730" y="4019714"/>
            <a:ext cx="8372541" cy="370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5"/>
              </a:lnSpc>
            </a:pPr>
          </a:p>
          <a:p>
            <a:pPr algn="ctr">
              <a:lnSpc>
                <a:spcPts val="4935"/>
              </a:lnSpc>
              <a:spcBef>
                <a:spcPct val="0"/>
              </a:spcBef>
            </a:pPr>
            <a:r>
              <a:rPr lang="en-US" sz="3525">
                <a:solidFill>
                  <a:srgbClr val="7F4F2B"/>
                </a:solidFill>
                <a:latin typeface="TT Firs Neue"/>
                <a:ea typeface="TT Firs Neue"/>
                <a:cs typeface="TT Firs Neue"/>
                <a:sym typeface="TT Firs Neue"/>
              </a:rPr>
              <a:t>LEARN → TEACH → CONNECT</a:t>
            </a:r>
          </a:p>
          <a:p>
            <a:pPr algn="ctr">
              <a:lnSpc>
                <a:spcPts val="4935"/>
              </a:lnSpc>
              <a:spcBef>
                <a:spcPct val="0"/>
              </a:spcBef>
            </a:pPr>
          </a:p>
          <a:p>
            <a:pPr algn="ctr">
              <a:lnSpc>
                <a:spcPts val="4935"/>
              </a:lnSpc>
              <a:spcBef>
                <a:spcPct val="0"/>
              </a:spcBef>
            </a:pPr>
            <a:r>
              <a:rPr lang="en-US" sz="3525">
                <a:solidFill>
                  <a:srgbClr val="7F4F2B"/>
                </a:solidFill>
                <a:latin typeface="TT Firs Neue"/>
                <a:ea typeface="TT Firs Neue"/>
                <a:cs typeface="TT Firs Neue"/>
                <a:sym typeface="TT Firs Neue"/>
              </a:rPr>
              <a:t>The value comes from exchange: both sides bring something and both sides gain something.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133" y="5083922"/>
            <a:ext cx="9174481" cy="4790195"/>
            <a:chOff x="0" y="0"/>
            <a:chExt cx="2416324" cy="12616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6324" cy="1261615"/>
            </a:xfrm>
            <a:custGeom>
              <a:avLst/>
              <a:gdLst/>
              <a:ahLst/>
              <a:cxnLst/>
              <a:rect r="r" b="b" t="t" l="l"/>
              <a:pathLst>
                <a:path h="1261615" w="2416324">
                  <a:moveTo>
                    <a:pt x="43037" y="0"/>
                  </a:moveTo>
                  <a:lnTo>
                    <a:pt x="2373288" y="0"/>
                  </a:lnTo>
                  <a:cubicBezTo>
                    <a:pt x="2384702" y="0"/>
                    <a:pt x="2395648" y="4534"/>
                    <a:pt x="2403719" y="12605"/>
                  </a:cubicBezTo>
                  <a:cubicBezTo>
                    <a:pt x="2411790" y="20676"/>
                    <a:pt x="2416324" y="31623"/>
                    <a:pt x="2416324" y="43037"/>
                  </a:cubicBezTo>
                  <a:lnTo>
                    <a:pt x="2416324" y="1218579"/>
                  </a:lnTo>
                  <a:cubicBezTo>
                    <a:pt x="2416324" y="1229992"/>
                    <a:pt x="2411790" y="1240939"/>
                    <a:pt x="2403719" y="1249010"/>
                  </a:cubicBezTo>
                  <a:cubicBezTo>
                    <a:pt x="2395648" y="1257081"/>
                    <a:pt x="2384702" y="1261615"/>
                    <a:pt x="2373288" y="1261615"/>
                  </a:cubicBezTo>
                  <a:lnTo>
                    <a:pt x="43037" y="1261615"/>
                  </a:lnTo>
                  <a:cubicBezTo>
                    <a:pt x="31623" y="1261615"/>
                    <a:pt x="20676" y="1257081"/>
                    <a:pt x="12605" y="1249010"/>
                  </a:cubicBezTo>
                  <a:cubicBezTo>
                    <a:pt x="4534" y="1240939"/>
                    <a:pt x="0" y="1229992"/>
                    <a:pt x="0" y="1218579"/>
                  </a:cubicBezTo>
                  <a:lnTo>
                    <a:pt x="0" y="43037"/>
                  </a:lnTo>
                  <a:cubicBezTo>
                    <a:pt x="0" y="31623"/>
                    <a:pt x="4534" y="20676"/>
                    <a:pt x="12605" y="12605"/>
                  </a:cubicBezTo>
                  <a:cubicBezTo>
                    <a:pt x="20676" y="4534"/>
                    <a:pt x="31623" y="0"/>
                    <a:pt x="43037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6324" cy="130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63406" y="5083922"/>
            <a:ext cx="8364015" cy="4723520"/>
            <a:chOff x="0" y="0"/>
            <a:chExt cx="2202868" cy="1244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2868" cy="1244055"/>
            </a:xfrm>
            <a:custGeom>
              <a:avLst/>
              <a:gdLst/>
              <a:ahLst/>
              <a:cxnLst/>
              <a:rect r="r" b="b" t="t" l="l"/>
              <a:pathLst>
                <a:path h="1244055" w="2202868">
                  <a:moveTo>
                    <a:pt x="47207" y="0"/>
                  </a:moveTo>
                  <a:lnTo>
                    <a:pt x="2155661" y="0"/>
                  </a:lnTo>
                  <a:cubicBezTo>
                    <a:pt x="2168182" y="0"/>
                    <a:pt x="2180189" y="4974"/>
                    <a:pt x="2189042" y="13827"/>
                  </a:cubicBezTo>
                  <a:cubicBezTo>
                    <a:pt x="2197895" y="22680"/>
                    <a:pt x="2202868" y="34687"/>
                    <a:pt x="2202868" y="47207"/>
                  </a:cubicBezTo>
                  <a:lnTo>
                    <a:pt x="2202868" y="1196848"/>
                  </a:lnTo>
                  <a:cubicBezTo>
                    <a:pt x="2202868" y="1222919"/>
                    <a:pt x="2181733" y="1244055"/>
                    <a:pt x="2155661" y="1244055"/>
                  </a:cubicBezTo>
                  <a:lnTo>
                    <a:pt x="47207" y="1244055"/>
                  </a:lnTo>
                  <a:cubicBezTo>
                    <a:pt x="21135" y="1244055"/>
                    <a:pt x="0" y="1222919"/>
                    <a:pt x="0" y="1196848"/>
                  </a:cubicBezTo>
                  <a:lnTo>
                    <a:pt x="0" y="47207"/>
                  </a:lnTo>
                  <a:cubicBezTo>
                    <a:pt x="0" y="21135"/>
                    <a:pt x="21135" y="0"/>
                    <a:pt x="47207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02868" cy="12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68158" y="3330680"/>
            <a:ext cx="2439684" cy="2439684"/>
          </a:xfrm>
          <a:custGeom>
            <a:avLst/>
            <a:gdLst/>
            <a:ahLst/>
            <a:cxnLst/>
            <a:rect r="r" b="b" t="t" l="l"/>
            <a:pathLst>
              <a:path h="2439684" w="2439684">
                <a:moveTo>
                  <a:pt x="0" y="0"/>
                </a:moveTo>
                <a:lnTo>
                  <a:pt x="2439684" y="0"/>
                </a:lnTo>
                <a:lnTo>
                  <a:pt x="2439684" y="2439684"/>
                </a:lnTo>
                <a:lnTo>
                  <a:pt x="0" y="243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>
            <a:off x="0" y="4550522"/>
            <a:ext cx="19356833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523749" y="0"/>
            <a:ext cx="2832073" cy="2816625"/>
          </a:xfrm>
          <a:custGeom>
            <a:avLst/>
            <a:gdLst/>
            <a:ahLst/>
            <a:cxnLst/>
            <a:rect r="r" b="b" t="t" l="l"/>
            <a:pathLst>
              <a:path h="2816625" w="2832073">
                <a:moveTo>
                  <a:pt x="0" y="0"/>
                </a:moveTo>
                <a:lnTo>
                  <a:pt x="2832073" y="0"/>
                </a:lnTo>
                <a:lnTo>
                  <a:pt x="2832073" y="2816625"/>
                </a:lnTo>
                <a:lnTo>
                  <a:pt x="0" y="2816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2646674" y="-350734"/>
            <a:ext cx="0" cy="4901256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377672" y="3631817"/>
            <a:ext cx="1837409" cy="1837409"/>
          </a:xfrm>
          <a:custGeom>
            <a:avLst/>
            <a:gdLst/>
            <a:ahLst/>
            <a:cxnLst/>
            <a:rect r="r" b="b" t="t" l="l"/>
            <a:pathLst>
              <a:path h="1837409" w="1837409">
                <a:moveTo>
                  <a:pt x="0" y="0"/>
                </a:moveTo>
                <a:lnTo>
                  <a:pt x="1837409" y="0"/>
                </a:lnTo>
                <a:lnTo>
                  <a:pt x="1837409" y="1837410"/>
                </a:lnTo>
                <a:lnTo>
                  <a:pt x="0" y="1837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217534" y="2211528"/>
            <a:ext cx="2858279" cy="28723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41032" y="5310262"/>
            <a:ext cx="8602968" cy="409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 Core Idea:</a:t>
            </a:r>
          </a:p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• Students list what they can teach.</a:t>
            </a:r>
          </a:p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• Students list what they want to learn.</a:t>
            </a:r>
          </a:p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• The system finds complementary people.</a:t>
            </a:r>
          </a:p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• Both sides choose whether to connect.</a:t>
            </a:r>
          </a:p>
          <a:p>
            <a:pPr algn="ctr">
              <a:lnSpc>
                <a:spcPts val="4081"/>
              </a:lnSpc>
            </a:pPr>
            <a:r>
              <a:rPr lang="en-US" sz="291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• The connection is designed to lead to a learning session.</a:t>
            </a:r>
          </a:p>
          <a:p>
            <a:pPr algn="ctr">
              <a:lnSpc>
                <a:spcPts val="408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1133" y="639433"/>
            <a:ext cx="9174481" cy="341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spc="-319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What makes SkillSwap different??</a:t>
            </a:r>
          </a:p>
          <a:p>
            <a:pPr algn="l">
              <a:lnSpc>
                <a:spcPts val="5800"/>
              </a:lnSpc>
            </a:pPr>
          </a:p>
          <a:p>
            <a:pPr algn="l">
              <a:lnSpc>
                <a:spcPts val="2900"/>
              </a:lnSpc>
            </a:pPr>
            <a:r>
              <a:rPr lang="en-US" sz="2900" spc="-159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Keeps the concept focused on peer-to-peer skill exchange.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-281280" y="135540"/>
            <a:ext cx="34820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- Campus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63406" y="0"/>
            <a:ext cx="1355065" cy="1355065"/>
          </a:xfrm>
          <a:custGeom>
            <a:avLst/>
            <a:gdLst/>
            <a:ahLst/>
            <a:cxnLst/>
            <a:rect r="r" b="b" t="t" l="l"/>
            <a:pathLst>
              <a:path h="1355065" w="1355065">
                <a:moveTo>
                  <a:pt x="0" y="0"/>
                </a:moveTo>
                <a:lnTo>
                  <a:pt x="1355065" y="0"/>
                </a:lnTo>
                <a:lnTo>
                  <a:pt x="1355065" y="1355065"/>
                </a:lnTo>
                <a:lnTo>
                  <a:pt x="0" y="1355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25622" y="5412077"/>
            <a:ext cx="8839583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Why does it fit a campus?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• The users already share an environment.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• Many skills are informal and peer-taught.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• Students can learn from people closer to their context.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• One person can be both teacher and learner.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• Knowledge can move across existing social circles.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9408" y="0"/>
            <a:ext cx="3258663" cy="2866031"/>
            <a:chOff x="0" y="0"/>
            <a:chExt cx="1462333" cy="1286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2331" cy="1286138"/>
            </a:xfrm>
            <a:custGeom>
              <a:avLst/>
              <a:gdLst/>
              <a:ahLst/>
              <a:cxnLst/>
              <a:rect r="r" b="b" t="t" l="l"/>
              <a:pathLst>
                <a:path h="1286138" w="1462331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63437"/>
                  </a:lnTo>
                  <a:cubicBezTo>
                    <a:pt x="1" y="1231203"/>
                    <a:pt x="54936" y="1286138"/>
                    <a:pt x="122702" y="1286138"/>
                  </a:cubicBezTo>
                  <a:lnTo>
                    <a:pt x="1339629" y="1286138"/>
                  </a:lnTo>
                  <a:cubicBezTo>
                    <a:pt x="1407395" y="1286138"/>
                    <a:pt x="1462331" y="1231203"/>
                    <a:pt x="1462331" y="1163437"/>
                  </a:cubicBezTo>
                  <a:lnTo>
                    <a:pt x="1462331" y="122701"/>
                  </a:lnTo>
                  <a:cubicBezTo>
                    <a:pt x="1462331" y="54935"/>
                    <a:pt x="1407396" y="1"/>
                    <a:pt x="1339630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2"/>
              <a:stretch>
                <a:fillRect l="0" t="-5460" r="0" b="-5460"/>
              </a:stretch>
            </a:blipFill>
            <a:ln w="38100" cap="sq">
              <a:solidFill>
                <a:srgbClr val="BC9B7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86998" y="140401"/>
            <a:ext cx="43612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SkillSwap - Campus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14860" y="-890031"/>
            <a:ext cx="2858279" cy="28723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24266" y="635041"/>
            <a:ext cx="1422527" cy="1422527"/>
          </a:xfrm>
          <a:custGeom>
            <a:avLst/>
            <a:gdLst/>
            <a:ahLst/>
            <a:cxnLst/>
            <a:rect r="r" b="b" t="t" l="l"/>
            <a:pathLst>
              <a:path h="1422527" w="1422527">
                <a:moveTo>
                  <a:pt x="0" y="0"/>
                </a:moveTo>
                <a:lnTo>
                  <a:pt x="1422527" y="0"/>
                </a:lnTo>
                <a:lnTo>
                  <a:pt x="1422527" y="1422527"/>
                </a:lnTo>
                <a:lnTo>
                  <a:pt x="0" y="142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>
            <a:off x="676115" y="546166"/>
            <a:ext cx="7944191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448071" y="-1185518"/>
            <a:ext cx="3105227" cy="3105227"/>
          </a:xfrm>
          <a:custGeom>
            <a:avLst/>
            <a:gdLst/>
            <a:ahLst/>
            <a:cxnLst/>
            <a:rect r="r" b="b" t="t" l="l"/>
            <a:pathLst>
              <a:path h="3105227" w="3105227">
                <a:moveTo>
                  <a:pt x="0" y="0"/>
                </a:moveTo>
                <a:lnTo>
                  <a:pt x="3105227" y="0"/>
                </a:lnTo>
                <a:lnTo>
                  <a:pt x="3105227" y="3105227"/>
                </a:lnTo>
                <a:lnTo>
                  <a:pt x="0" y="31052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86998" y="3654872"/>
            <a:ext cx="3086100" cy="6125460"/>
            <a:chOff x="0" y="0"/>
            <a:chExt cx="812800" cy="16132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613290"/>
            </a:xfrm>
            <a:custGeom>
              <a:avLst/>
              <a:gdLst/>
              <a:ahLst/>
              <a:cxnLst/>
              <a:rect r="r" b="b" t="t" l="l"/>
              <a:pathLst>
                <a:path h="161329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70643"/>
                  </a:lnTo>
                  <a:cubicBezTo>
                    <a:pt x="812800" y="1594196"/>
                    <a:pt x="793706" y="1613290"/>
                    <a:pt x="770153" y="1613290"/>
                  </a:cubicBezTo>
                  <a:lnTo>
                    <a:pt x="42647" y="1613290"/>
                  </a:lnTo>
                  <a:cubicBezTo>
                    <a:pt x="31336" y="1613290"/>
                    <a:pt x="20489" y="1608797"/>
                    <a:pt x="12491" y="1600799"/>
                  </a:cubicBezTo>
                  <a:cubicBezTo>
                    <a:pt x="4493" y="1592801"/>
                    <a:pt x="0" y="1581954"/>
                    <a:pt x="0" y="157064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812800" cy="168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 u="sng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Create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Add skills you want to teach and skills you want to learn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917559" y="3654872"/>
            <a:ext cx="3083125" cy="6125460"/>
            <a:chOff x="0" y="0"/>
            <a:chExt cx="812016" cy="16132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016" cy="1613290"/>
            </a:xfrm>
            <a:custGeom>
              <a:avLst/>
              <a:gdLst/>
              <a:ahLst/>
              <a:cxnLst/>
              <a:rect r="r" b="b" t="t" l="l"/>
              <a:pathLst>
                <a:path h="1613290" w="812016">
                  <a:moveTo>
                    <a:pt x="42688" y="0"/>
                  </a:moveTo>
                  <a:lnTo>
                    <a:pt x="769328" y="0"/>
                  </a:lnTo>
                  <a:cubicBezTo>
                    <a:pt x="780650" y="0"/>
                    <a:pt x="791508" y="4497"/>
                    <a:pt x="799513" y="12503"/>
                  </a:cubicBezTo>
                  <a:cubicBezTo>
                    <a:pt x="807519" y="20509"/>
                    <a:pt x="812016" y="31366"/>
                    <a:pt x="812016" y="42688"/>
                  </a:cubicBezTo>
                  <a:lnTo>
                    <a:pt x="812016" y="1570602"/>
                  </a:lnTo>
                  <a:cubicBezTo>
                    <a:pt x="812016" y="1594178"/>
                    <a:pt x="792904" y="1613290"/>
                    <a:pt x="769328" y="1613290"/>
                  </a:cubicBezTo>
                  <a:lnTo>
                    <a:pt x="42688" y="1613290"/>
                  </a:lnTo>
                  <a:cubicBezTo>
                    <a:pt x="19112" y="1613290"/>
                    <a:pt x="0" y="1594178"/>
                    <a:pt x="0" y="1570602"/>
                  </a:cubicBezTo>
                  <a:lnTo>
                    <a:pt x="0" y="42688"/>
                  </a:lnTo>
                  <a:cubicBezTo>
                    <a:pt x="0" y="19112"/>
                    <a:pt x="19112" y="0"/>
                    <a:pt x="42688" y="0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12016" cy="168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 u="sng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Exchange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Chat, schedule, teach, learn and share resources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59174" y="3654872"/>
            <a:ext cx="3086100" cy="6125460"/>
            <a:chOff x="0" y="0"/>
            <a:chExt cx="812800" cy="16132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613290"/>
            </a:xfrm>
            <a:custGeom>
              <a:avLst/>
              <a:gdLst/>
              <a:ahLst/>
              <a:cxnLst/>
              <a:rect r="r" b="b" t="t" l="l"/>
              <a:pathLst>
                <a:path h="161329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70643"/>
                  </a:lnTo>
                  <a:cubicBezTo>
                    <a:pt x="812800" y="1594196"/>
                    <a:pt x="793706" y="1613290"/>
                    <a:pt x="770153" y="1613290"/>
                  </a:cubicBezTo>
                  <a:lnTo>
                    <a:pt x="42647" y="1613290"/>
                  </a:lnTo>
                  <a:cubicBezTo>
                    <a:pt x="31336" y="1613290"/>
                    <a:pt x="20489" y="1608797"/>
                    <a:pt x="12491" y="1600799"/>
                  </a:cubicBezTo>
                  <a:cubicBezTo>
                    <a:pt x="4493" y="1592801"/>
                    <a:pt x="0" y="1581954"/>
                    <a:pt x="0" y="157064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12800" cy="168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 u="sng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Match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Mutual interest creates a learning connection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01574" y="3654872"/>
            <a:ext cx="3086100" cy="6125460"/>
            <a:chOff x="0" y="0"/>
            <a:chExt cx="812800" cy="16132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613290"/>
            </a:xfrm>
            <a:custGeom>
              <a:avLst/>
              <a:gdLst/>
              <a:ahLst/>
              <a:cxnLst/>
              <a:rect r="r" b="b" t="t" l="l"/>
              <a:pathLst>
                <a:path h="161329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70643"/>
                  </a:lnTo>
                  <a:cubicBezTo>
                    <a:pt x="812800" y="1594196"/>
                    <a:pt x="793706" y="1613290"/>
                    <a:pt x="770153" y="1613290"/>
                  </a:cubicBezTo>
                  <a:lnTo>
                    <a:pt x="42647" y="1613290"/>
                  </a:lnTo>
                  <a:cubicBezTo>
                    <a:pt x="31336" y="1613290"/>
                    <a:pt x="20489" y="1608797"/>
                    <a:pt x="12491" y="1600799"/>
                  </a:cubicBezTo>
                  <a:cubicBezTo>
                    <a:pt x="4493" y="1592801"/>
                    <a:pt x="0" y="1581954"/>
                    <a:pt x="0" y="157064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12800" cy="168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 u="sng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Interest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</a:t>
              </a: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how interest when the profile looks useful to start a conversation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43974" y="3654872"/>
            <a:ext cx="3086100" cy="6125460"/>
            <a:chOff x="0" y="0"/>
            <a:chExt cx="812800" cy="16132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613290"/>
            </a:xfrm>
            <a:custGeom>
              <a:avLst/>
              <a:gdLst/>
              <a:ahLst/>
              <a:cxnLst/>
              <a:rect r="r" b="b" t="t" l="l"/>
              <a:pathLst>
                <a:path h="161329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70643"/>
                  </a:lnTo>
                  <a:cubicBezTo>
                    <a:pt x="812800" y="1594196"/>
                    <a:pt x="793706" y="1613290"/>
                    <a:pt x="770153" y="1613290"/>
                  </a:cubicBezTo>
                  <a:lnTo>
                    <a:pt x="42647" y="1613290"/>
                  </a:lnTo>
                  <a:cubicBezTo>
                    <a:pt x="31336" y="1613290"/>
                    <a:pt x="20489" y="1608797"/>
                    <a:pt x="12491" y="1600799"/>
                  </a:cubicBezTo>
                  <a:cubicBezTo>
                    <a:pt x="4493" y="1592801"/>
                    <a:pt x="0" y="1581954"/>
                    <a:pt x="0" y="157064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812800" cy="168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 u="sng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Discover</a:t>
              </a:r>
              <a:r>
                <a:rPr lang="en-US" sz="41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 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See students from same campus with relevant skills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67907" y="886285"/>
            <a:ext cx="8115300" cy="216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5"/>
              </a:lnSpc>
            </a:pPr>
            <a:r>
              <a:rPr lang="en-US" sz="5305" spc="-291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How does it work?</a:t>
            </a:r>
          </a:p>
          <a:p>
            <a:pPr algn="l" marL="0" indent="0" lvl="0">
              <a:lnSpc>
                <a:spcPts val="5305"/>
              </a:lnSpc>
              <a:spcBef>
                <a:spcPct val="0"/>
              </a:spcBef>
            </a:pPr>
            <a:r>
              <a:rPr lang="en-US" sz="5305" spc="-291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From - I want to learn to I found someone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2480" y="3625406"/>
            <a:ext cx="3291718" cy="3102931"/>
            <a:chOff x="0" y="0"/>
            <a:chExt cx="866955" cy="817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51780" y="3625406"/>
            <a:ext cx="3291718" cy="3102931"/>
            <a:chOff x="0" y="0"/>
            <a:chExt cx="866955" cy="8172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86398" y="3715859"/>
            <a:ext cx="3291718" cy="3102931"/>
            <a:chOff x="0" y="0"/>
            <a:chExt cx="866955" cy="817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63866" y="3715859"/>
            <a:ext cx="3291718" cy="3102931"/>
            <a:chOff x="0" y="0"/>
            <a:chExt cx="866955" cy="817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793220"/>
            <a:ext cx="14173316" cy="218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-330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What a student actually does?</a:t>
            </a:r>
          </a:p>
          <a:p>
            <a:pPr algn="l">
              <a:lnSpc>
                <a:spcPts val="6500"/>
              </a:lnSpc>
            </a:pP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3500" spc="-192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This reduces friction between interest and 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556" y="77660"/>
            <a:ext cx="476710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- Campus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86898" y="4310062"/>
            <a:ext cx="2602882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Person B: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 </a:t>
            </a: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want to learn UI/UX</a:t>
            </a:r>
          </a:p>
          <a:p>
            <a:pPr algn="l">
              <a:lnSpc>
                <a:spcPts val="551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774016" y="3810000"/>
            <a:ext cx="2739967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surfaces students who can teach Python and UI/UX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570433" y="4381500"/>
            <a:ext cx="2602882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When both show interest → match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5202016" y="3904141"/>
            <a:ext cx="2602882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They move into an actual learning session</a:t>
            </a:r>
          </a:p>
          <a:p>
            <a:pPr algn="l">
              <a:lnSpc>
                <a:spcPts val="383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207862" y="3625406"/>
            <a:ext cx="3291718" cy="3102931"/>
            <a:chOff x="0" y="0"/>
            <a:chExt cx="866955" cy="8172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9871" y="4205322"/>
            <a:ext cx="292770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Person A: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3199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 want to teach Python + React.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4218" y="372318"/>
            <a:ext cx="8463260" cy="9649910"/>
            <a:chOff x="0" y="0"/>
            <a:chExt cx="2229007" cy="25415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9007" cy="2541540"/>
            </a:xfrm>
            <a:custGeom>
              <a:avLst/>
              <a:gdLst/>
              <a:ahLst/>
              <a:cxnLst/>
              <a:rect r="r" b="b" t="t" l="l"/>
              <a:pathLst>
                <a:path h="2541540" w="2229007">
                  <a:moveTo>
                    <a:pt x="91477" y="0"/>
                  </a:moveTo>
                  <a:lnTo>
                    <a:pt x="2137530" y="0"/>
                  </a:lnTo>
                  <a:cubicBezTo>
                    <a:pt x="2161791" y="0"/>
                    <a:pt x="2185059" y="9638"/>
                    <a:pt x="2202214" y="26793"/>
                  </a:cubicBezTo>
                  <a:cubicBezTo>
                    <a:pt x="2219369" y="43948"/>
                    <a:pt x="2229007" y="67216"/>
                    <a:pt x="2229007" y="91477"/>
                  </a:cubicBezTo>
                  <a:lnTo>
                    <a:pt x="2229007" y="2450063"/>
                  </a:lnTo>
                  <a:cubicBezTo>
                    <a:pt x="2229007" y="2474324"/>
                    <a:pt x="2219369" y="2497592"/>
                    <a:pt x="2202214" y="2514747"/>
                  </a:cubicBezTo>
                  <a:cubicBezTo>
                    <a:pt x="2185059" y="2531902"/>
                    <a:pt x="2161791" y="2541540"/>
                    <a:pt x="2137530" y="2541540"/>
                  </a:cubicBezTo>
                  <a:lnTo>
                    <a:pt x="91477" y="2541540"/>
                  </a:lnTo>
                  <a:cubicBezTo>
                    <a:pt x="40956" y="2541540"/>
                    <a:pt x="0" y="2500584"/>
                    <a:pt x="0" y="2450063"/>
                  </a:cubicBezTo>
                  <a:lnTo>
                    <a:pt x="0" y="91477"/>
                  </a:lnTo>
                  <a:cubicBezTo>
                    <a:pt x="0" y="67216"/>
                    <a:pt x="9638" y="43948"/>
                    <a:pt x="26793" y="26793"/>
                  </a:cubicBezTo>
                  <a:cubicBezTo>
                    <a:pt x="43948" y="9638"/>
                    <a:pt x="67216" y="0"/>
                    <a:pt x="91477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BC9B7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29007" cy="2589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0752" y="2251662"/>
            <a:ext cx="4471991" cy="3863703"/>
            <a:chOff x="0" y="0"/>
            <a:chExt cx="1177808" cy="10176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7808" cy="1017601"/>
            </a:xfrm>
            <a:custGeom>
              <a:avLst/>
              <a:gdLst/>
              <a:ahLst/>
              <a:cxnLst/>
              <a:rect r="r" b="b" t="t" l="l"/>
              <a:pathLst>
                <a:path h="1017601" w="1177808">
                  <a:moveTo>
                    <a:pt x="173120" y="0"/>
                  </a:moveTo>
                  <a:lnTo>
                    <a:pt x="1004688" y="0"/>
                  </a:lnTo>
                  <a:cubicBezTo>
                    <a:pt x="1100300" y="0"/>
                    <a:pt x="1177808" y="77509"/>
                    <a:pt x="1177808" y="173120"/>
                  </a:cubicBezTo>
                  <a:lnTo>
                    <a:pt x="1177808" y="844481"/>
                  </a:lnTo>
                  <a:cubicBezTo>
                    <a:pt x="1177808" y="940092"/>
                    <a:pt x="1100300" y="1017601"/>
                    <a:pt x="1004688" y="1017601"/>
                  </a:cubicBezTo>
                  <a:lnTo>
                    <a:pt x="173120" y="1017601"/>
                  </a:lnTo>
                  <a:cubicBezTo>
                    <a:pt x="77509" y="1017601"/>
                    <a:pt x="0" y="940092"/>
                    <a:pt x="0" y="844481"/>
                  </a:cubicBezTo>
                  <a:lnTo>
                    <a:pt x="0" y="173120"/>
                  </a:lnTo>
                  <a:cubicBezTo>
                    <a:pt x="0" y="77509"/>
                    <a:pt x="77509" y="0"/>
                    <a:pt x="173120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BC9B7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7808" cy="1065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251662"/>
            <a:ext cx="4290836" cy="3863703"/>
            <a:chOff x="0" y="0"/>
            <a:chExt cx="1130097" cy="1017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0097" cy="1017601"/>
            </a:xfrm>
            <a:custGeom>
              <a:avLst/>
              <a:gdLst/>
              <a:ahLst/>
              <a:cxnLst/>
              <a:rect r="r" b="b" t="t" l="l"/>
              <a:pathLst>
                <a:path h="1017601" w="1130097">
                  <a:moveTo>
                    <a:pt x="180429" y="0"/>
                  </a:moveTo>
                  <a:lnTo>
                    <a:pt x="949668" y="0"/>
                  </a:lnTo>
                  <a:cubicBezTo>
                    <a:pt x="997520" y="0"/>
                    <a:pt x="1043413" y="19009"/>
                    <a:pt x="1077250" y="52846"/>
                  </a:cubicBezTo>
                  <a:cubicBezTo>
                    <a:pt x="1111087" y="86684"/>
                    <a:pt x="1130097" y="132576"/>
                    <a:pt x="1130097" y="180429"/>
                  </a:cubicBezTo>
                  <a:lnTo>
                    <a:pt x="1130097" y="837172"/>
                  </a:lnTo>
                  <a:cubicBezTo>
                    <a:pt x="1130097" y="885024"/>
                    <a:pt x="1111087" y="930917"/>
                    <a:pt x="1077250" y="964754"/>
                  </a:cubicBezTo>
                  <a:cubicBezTo>
                    <a:pt x="1043413" y="998591"/>
                    <a:pt x="997520" y="1017601"/>
                    <a:pt x="949668" y="1017601"/>
                  </a:cubicBezTo>
                  <a:lnTo>
                    <a:pt x="180429" y="1017601"/>
                  </a:lnTo>
                  <a:cubicBezTo>
                    <a:pt x="132576" y="1017601"/>
                    <a:pt x="86684" y="998591"/>
                    <a:pt x="52846" y="964754"/>
                  </a:cubicBezTo>
                  <a:cubicBezTo>
                    <a:pt x="19009" y="930917"/>
                    <a:pt x="0" y="885024"/>
                    <a:pt x="0" y="837172"/>
                  </a:cubicBezTo>
                  <a:lnTo>
                    <a:pt x="0" y="180429"/>
                  </a:lnTo>
                  <a:cubicBezTo>
                    <a:pt x="0" y="132576"/>
                    <a:pt x="19009" y="86684"/>
                    <a:pt x="52846" y="52846"/>
                  </a:cubicBezTo>
                  <a:cubicBezTo>
                    <a:pt x="86684" y="19009"/>
                    <a:pt x="132576" y="0"/>
                    <a:pt x="180429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BC9B7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30097" cy="1065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1257" y="6473762"/>
            <a:ext cx="8942743" cy="3556063"/>
            <a:chOff x="0" y="0"/>
            <a:chExt cx="2355290" cy="9365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55290" cy="936576"/>
            </a:xfrm>
            <a:custGeom>
              <a:avLst/>
              <a:gdLst/>
              <a:ahLst/>
              <a:cxnLst/>
              <a:rect r="r" b="b" t="t" l="l"/>
              <a:pathLst>
                <a:path h="936576" w="2355290">
                  <a:moveTo>
                    <a:pt x="86572" y="0"/>
                  </a:moveTo>
                  <a:lnTo>
                    <a:pt x="2268718" y="0"/>
                  </a:lnTo>
                  <a:cubicBezTo>
                    <a:pt x="2291678" y="0"/>
                    <a:pt x="2313698" y="9121"/>
                    <a:pt x="2329934" y="25356"/>
                  </a:cubicBezTo>
                  <a:cubicBezTo>
                    <a:pt x="2346169" y="41592"/>
                    <a:pt x="2355290" y="63612"/>
                    <a:pt x="2355290" y="86572"/>
                  </a:cubicBezTo>
                  <a:lnTo>
                    <a:pt x="2355290" y="850004"/>
                  </a:lnTo>
                  <a:cubicBezTo>
                    <a:pt x="2355290" y="897817"/>
                    <a:pt x="2316531" y="936576"/>
                    <a:pt x="2268718" y="936576"/>
                  </a:cubicBezTo>
                  <a:lnTo>
                    <a:pt x="86572" y="936576"/>
                  </a:lnTo>
                  <a:cubicBezTo>
                    <a:pt x="38760" y="936576"/>
                    <a:pt x="0" y="897817"/>
                    <a:pt x="0" y="850004"/>
                  </a:cubicBezTo>
                  <a:lnTo>
                    <a:pt x="0" y="86572"/>
                  </a:lnTo>
                  <a:cubicBezTo>
                    <a:pt x="0" y="38760"/>
                    <a:pt x="38760" y="0"/>
                    <a:pt x="86572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BC9B7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355290" cy="99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2D563E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Why this match works?</a:t>
              </a:r>
            </a:p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2D563E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Dheeraj teaches Python → Mani karnica learns Python</a:t>
              </a:r>
            </a:p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2D563E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Mani karnica teaches UI/UX → Dheeraj learns UI/UX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48463" y="792550"/>
            <a:ext cx="7794770" cy="8701899"/>
          </a:xfrm>
          <a:custGeom>
            <a:avLst/>
            <a:gdLst/>
            <a:ahLst/>
            <a:cxnLst/>
            <a:rect r="r" b="b" t="t" l="l"/>
            <a:pathLst>
              <a:path h="8701899" w="7794770">
                <a:moveTo>
                  <a:pt x="0" y="0"/>
                </a:moveTo>
                <a:lnTo>
                  <a:pt x="7794769" y="0"/>
                </a:lnTo>
                <a:lnTo>
                  <a:pt x="7794769" y="8701900"/>
                </a:lnTo>
                <a:lnTo>
                  <a:pt x="0" y="870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00" t="0" r="-269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503763"/>
            <a:ext cx="8584392" cy="96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330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Smart matching: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879" y="145624"/>
            <a:ext cx="36302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- Campus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81402" y="2507114"/>
            <a:ext cx="3250690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Mani karnica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CAN TEACH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UI/UX • Figma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WANTS TO LEARN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Python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41156" y="2621414"/>
            <a:ext cx="3758121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Dheeraj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CAN TEACH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Python • React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WANTS TO LEARN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UI/UX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937" y="1028700"/>
            <a:ext cx="8956120" cy="6628226"/>
            <a:chOff x="0" y="0"/>
            <a:chExt cx="2123286" cy="1571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289" cy="1571397"/>
            </a:xfrm>
            <a:custGeom>
              <a:avLst/>
              <a:gdLst/>
              <a:ahLst/>
              <a:cxnLst/>
              <a:rect r="r" b="b" t="t" l="l"/>
              <a:pathLst>
                <a:path h="1571397" w="2123289">
                  <a:moveTo>
                    <a:pt x="1709024" y="38122"/>
                  </a:moveTo>
                  <a:cubicBezTo>
                    <a:pt x="1687325" y="13865"/>
                    <a:pt x="1656319" y="0"/>
                    <a:pt x="1623773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1122911"/>
                  </a:lnTo>
                  <a:cubicBezTo>
                    <a:pt x="0" y="1186084"/>
                    <a:pt x="51211" y="1237295"/>
                    <a:pt x="114384" y="1237295"/>
                  </a:cubicBezTo>
                  <a:lnTo>
                    <a:pt x="1250248" y="1237295"/>
                  </a:lnTo>
                  <a:cubicBezTo>
                    <a:pt x="1282795" y="1237295"/>
                    <a:pt x="1313800" y="1251160"/>
                    <a:pt x="1335499" y="1275417"/>
                  </a:cubicBezTo>
                  <a:lnTo>
                    <a:pt x="1566163" y="1533275"/>
                  </a:lnTo>
                  <a:cubicBezTo>
                    <a:pt x="1587863" y="1557532"/>
                    <a:pt x="1618869" y="1571397"/>
                    <a:pt x="1651416" y="1571397"/>
                  </a:cubicBezTo>
                  <a:lnTo>
                    <a:pt x="2008902" y="1571397"/>
                  </a:lnTo>
                  <a:cubicBezTo>
                    <a:pt x="2039238" y="1571398"/>
                    <a:pt x="2068332" y="1559347"/>
                    <a:pt x="2089784" y="1537897"/>
                  </a:cubicBezTo>
                  <a:cubicBezTo>
                    <a:pt x="2111236" y="1516447"/>
                    <a:pt x="2123288" y="1487353"/>
                    <a:pt x="2123289" y="1457017"/>
                  </a:cubicBezTo>
                  <a:lnTo>
                    <a:pt x="2123289" y="562247"/>
                  </a:lnTo>
                  <a:cubicBezTo>
                    <a:pt x="2123290" y="522943"/>
                    <a:pt x="2108802" y="485019"/>
                    <a:pt x="2082597" y="455726"/>
                  </a:cubicBezTo>
                  <a:close/>
                </a:path>
              </a:pathLst>
            </a:custGeom>
            <a:blipFill>
              <a:blip r:embed="rId2"/>
              <a:stretch>
                <a:fillRect l="-2453" t="0" r="-2453" b="0"/>
              </a:stretch>
            </a:blipFill>
            <a:ln w="38100" cap="sq">
              <a:solidFill>
                <a:srgbClr val="BC9B7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2155" y="292387"/>
            <a:ext cx="36584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SkillSwap - Campus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29889" y="5963975"/>
            <a:ext cx="6318703" cy="3905251"/>
            <a:chOff x="0" y="0"/>
            <a:chExt cx="1722883" cy="10648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886" cy="1064822"/>
            </a:xfrm>
            <a:custGeom>
              <a:avLst/>
              <a:gdLst/>
              <a:ahLst/>
              <a:cxnLst/>
              <a:rect r="r" b="b" t="t" l="l"/>
              <a:pathLst>
                <a:path h="1064822" w="1722886">
                  <a:moveTo>
                    <a:pt x="137592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785429"/>
                  </a:lnTo>
                  <a:cubicBezTo>
                    <a:pt x="0" y="821940"/>
                    <a:pt x="13458" y="857170"/>
                    <a:pt x="37800" y="884381"/>
                  </a:cubicBezTo>
                  <a:lnTo>
                    <a:pt x="154967" y="1015358"/>
                  </a:lnTo>
                  <a:cubicBezTo>
                    <a:pt x="183122" y="1046833"/>
                    <a:pt x="223353" y="1064823"/>
                    <a:pt x="265584" y="1064822"/>
                  </a:cubicBezTo>
                  <a:lnTo>
                    <a:pt x="1574470" y="1064822"/>
                  </a:lnTo>
                  <a:cubicBezTo>
                    <a:pt x="1613832" y="1064822"/>
                    <a:pt x="1651582" y="1049186"/>
                    <a:pt x="1679416" y="1021353"/>
                  </a:cubicBezTo>
                  <a:cubicBezTo>
                    <a:pt x="1707249" y="993519"/>
                    <a:pt x="1722886" y="955769"/>
                    <a:pt x="1722886" y="916407"/>
                  </a:cubicBezTo>
                  <a:lnTo>
                    <a:pt x="1722886" y="366141"/>
                  </a:lnTo>
                  <a:cubicBezTo>
                    <a:pt x="1722887" y="329143"/>
                    <a:pt x="1709067" y="293478"/>
                    <a:pt x="1684137" y="266140"/>
                  </a:cubicBezTo>
                  <a:lnTo>
                    <a:pt x="1485594" y="48414"/>
                  </a:lnTo>
                  <a:cubicBezTo>
                    <a:pt x="1457472" y="17574"/>
                    <a:pt x="1417664" y="0"/>
                    <a:pt x="137592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8990" r="0" b="-68990"/>
              </a:stretch>
            </a:blipFill>
            <a:ln w="38100" cap="sq">
              <a:solidFill>
                <a:srgbClr val="BC9B7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-1062815" y="-738045"/>
            <a:ext cx="2858279" cy="28723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8536" y="138536"/>
              <a:ext cx="535728" cy="535728"/>
            </a:xfrm>
            <a:custGeom>
              <a:avLst/>
              <a:gdLst/>
              <a:ahLst/>
              <a:cxnLst/>
              <a:rect r="r" b="b" t="t" l="l"/>
              <a:pathLst>
                <a:path h="535728" w="535728">
                  <a:moveTo>
                    <a:pt x="272971" y="4929"/>
                  </a:moveTo>
                  <a:lnTo>
                    <a:pt x="276727" y="110429"/>
                  </a:lnTo>
                  <a:cubicBezTo>
                    <a:pt x="279604" y="191261"/>
                    <a:pt x="344467" y="256124"/>
                    <a:pt x="425299" y="259001"/>
                  </a:cubicBezTo>
                  <a:lnTo>
                    <a:pt x="530799" y="262757"/>
                  </a:lnTo>
                  <a:cubicBezTo>
                    <a:pt x="533549" y="262855"/>
                    <a:pt x="535728" y="265112"/>
                    <a:pt x="535728" y="267864"/>
                  </a:cubicBezTo>
                  <a:cubicBezTo>
                    <a:pt x="535728" y="270616"/>
                    <a:pt x="533549" y="272873"/>
                    <a:pt x="530799" y="272971"/>
                  </a:cubicBezTo>
                  <a:lnTo>
                    <a:pt x="425299" y="276727"/>
                  </a:lnTo>
                  <a:cubicBezTo>
                    <a:pt x="344467" y="279604"/>
                    <a:pt x="279604" y="344467"/>
                    <a:pt x="276727" y="425299"/>
                  </a:cubicBezTo>
                  <a:lnTo>
                    <a:pt x="272971" y="530799"/>
                  </a:lnTo>
                  <a:cubicBezTo>
                    <a:pt x="272873" y="533549"/>
                    <a:pt x="270616" y="535728"/>
                    <a:pt x="267864" y="535728"/>
                  </a:cubicBezTo>
                  <a:cubicBezTo>
                    <a:pt x="265112" y="535728"/>
                    <a:pt x="262855" y="533549"/>
                    <a:pt x="262757" y="530799"/>
                  </a:cubicBezTo>
                  <a:lnTo>
                    <a:pt x="259001" y="425299"/>
                  </a:lnTo>
                  <a:cubicBezTo>
                    <a:pt x="256124" y="344467"/>
                    <a:pt x="191261" y="279604"/>
                    <a:pt x="110429" y="276727"/>
                  </a:cubicBezTo>
                  <a:lnTo>
                    <a:pt x="4929" y="272971"/>
                  </a:lnTo>
                  <a:cubicBezTo>
                    <a:pt x="2179" y="272873"/>
                    <a:pt x="0" y="270616"/>
                    <a:pt x="0" y="267864"/>
                  </a:cubicBezTo>
                  <a:cubicBezTo>
                    <a:pt x="0" y="265112"/>
                    <a:pt x="2179" y="262855"/>
                    <a:pt x="4929" y="262757"/>
                  </a:cubicBezTo>
                  <a:lnTo>
                    <a:pt x="110429" y="259001"/>
                  </a:lnTo>
                  <a:cubicBezTo>
                    <a:pt x="191261" y="256124"/>
                    <a:pt x="256124" y="191261"/>
                    <a:pt x="259001" y="110429"/>
                  </a:cubicBezTo>
                  <a:lnTo>
                    <a:pt x="262757" y="4929"/>
                  </a:lnTo>
                  <a:cubicBezTo>
                    <a:pt x="262855" y="2179"/>
                    <a:pt x="265112" y="0"/>
                    <a:pt x="267864" y="0"/>
                  </a:cubicBezTo>
                  <a:cubicBezTo>
                    <a:pt x="270616" y="0"/>
                    <a:pt x="272873" y="2179"/>
                    <a:pt x="272971" y="4929"/>
                  </a:cubicBezTo>
                  <a:close/>
                </a:path>
              </a:pathLst>
            </a:custGeom>
            <a:solidFill>
              <a:srgbClr val="BC9B7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92032" y="344407"/>
              <a:ext cx="28737" cy="76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-3319070" y="717202"/>
            <a:ext cx="22925100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011735" y="1118235"/>
            <a:ext cx="7755010" cy="143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520" spc="-193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Sometimes the best teacher isn't online — they're sitting a few seats away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3127" y="7961726"/>
            <a:ext cx="7755010" cy="143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520" spc="-193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When students teach students, the campus becomes more than a place to study.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267" y="1028700"/>
            <a:ext cx="17901466" cy="9121833"/>
          </a:xfrm>
          <a:custGeom>
            <a:avLst/>
            <a:gdLst/>
            <a:ahLst/>
            <a:cxnLst/>
            <a:rect r="r" b="b" t="t" l="l"/>
            <a:pathLst>
              <a:path h="9121833" w="17901466">
                <a:moveTo>
                  <a:pt x="0" y="0"/>
                </a:moveTo>
                <a:lnTo>
                  <a:pt x="17901466" y="0"/>
                </a:lnTo>
                <a:lnTo>
                  <a:pt x="17901466" y="9121833"/>
                </a:lnTo>
                <a:lnTo>
                  <a:pt x="0" y="9121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090" r="0" b="-33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267" y="-47625"/>
            <a:ext cx="17901466" cy="96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330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MVP : What we build first 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0326" y="1028700"/>
            <a:ext cx="3564748" cy="805069"/>
          </a:xfrm>
          <a:custGeom>
            <a:avLst/>
            <a:gdLst/>
            <a:ahLst/>
            <a:cxnLst/>
            <a:rect r="r" b="b" t="t" l="l"/>
            <a:pathLst>
              <a:path h="805069" w="3564748">
                <a:moveTo>
                  <a:pt x="0" y="0"/>
                </a:moveTo>
                <a:lnTo>
                  <a:pt x="3564747" y="0"/>
                </a:lnTo>
                <a:lnTo>
                  <a:pt x="3564747" y="805069"/>
                </a:lnTo>
                <a:lnTo>
                  <a:pt x="0" y="805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644" t="0" r="-485136" b="-82344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551" y="803690"/>
            <a:ext cx="17834898" cy="8679619"/>
          </a:xfrm>
          <a:custGeom>
            <a:avLst/>
            <a:gdLst/>
            <a:ahLst/>
            <a:cxnLst/>
            <a:rect r="r" b="b" t="t" l="l"/>
            <a:pathLst>
              <a:path h="8679619" w="17834898">
                <a:moveTo>
                  <a:pt x="0" y="0"/>
                </a:moveTo>
                <a:lnTo>
                  <a:pt x="17834898" y="0"/>
                </a:lnTo>
                <a:lnTo>
                  <a:pt x="17834898" y="8679620"/>
                </a:lnTo>
                <a:lnTo>
                  <a:pt x="0" y="867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" t="-625" r="-17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78401" y="803690"/>
            <a:ext cx="3564748" cy="805069"/>
          </a:xfrm>
          <a:custGeom>
            <a:avLst/>
            <a:gdLst/>
            <a:ahLst/>
            <a:cxnLst/>
            <a:rect r="r" b="b" t="t" l="l"/>
            <a:pathLst>
              <a:path h="805069" w="3564748">
                <a:moveTo>
                  <a:pt x="0" y="0"/>
                </a:moveTo>
                <a:lnTo>
                  <a:pt x="3564748" y="0"/>
                </a:lnTo>
                <a:lnTo>
                  <a:pt x="3564748" y="805070"/>
                </a:lnTo>
                <a:lnTo>
                  <a:pt x="0" y="805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644" t="0" r="-485136" b="-823447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267" y="1028700"/>
            <a:ext cx="17901466" cy="8545764"/>
          </a:xfrm>
          <a:custGeom>
            <a:avLst/>
            <a:gdLst/>
            <a:ahLst/>
            <a:cxnLst/>
            <a:rect r="r" b="b" t="t" l="l"/>
            <a:pathLst>
              <a:path h="8545764" w="17901466">
                <a:moveTo>
                  <a:pt x="0" y="0"/>
                </a:moveTo>
                <a:lnTo>
                  <a:pt x="17901466" y="0"/>
                </a:lnTo>
                <a:lnTo>
                  <a:pt x="17901466" y="8545764"/>
                </a:lnTo>
                <a:lnTo>
                  <a:pt x="0" y="8545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0" t="-2408" r="-67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267" y="-47625"/>
            <a:ext cx="17901466" cy="96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330" u="sng">
                <a:solidFill>
                  <a:srgbClr val="7F4F2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Advantages 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097594" y="1028700"/>
            <a:ext cx="3564748" cy="805069"/>
          </a:xfrm>
          <a:custGeom>
            <a:avLst/>
            <a:gdLst/>
            <a:ahLst/>
            <a:cxnLst/>
            <a:rect r="r" b="b" t="t" l="l"/>
            <a:pathLst>
              <a:path h="805069" w="3564748">
                <a:moveTo>
                  <a:pt x="0" y="0"/>
                </a:moveTo>
                <a:lnTo>
                  <a:pt x="3564747" y="0"/>
                </a:lnTo>
                <a:lnTo>
                  <a:pt x="3564747" y="805069"/>
                </a:lnTo>
                <a:lnTo>
                  <a:pt x="0" y="805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644" t="0" r="-485136" b="-823447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8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335" y="-281910"/>
            <a:ext cx="4084054" cy="2621220"/>
          </a:xfrm>
          <a:custGeom>
            <a:avLst/>
            <a:gdLst/>
            <a:ahLst/>
            <a:cxnLst/>
            <a:rect r="r" b="b" t="t" l="l"/>
            <a:pathLst>
              <a:path h="2621220" w="4084054">
                <a:moveTo>
                  <a:pt x="0" y="0"/>
                </a:moveTo>
                <a:lnTo>
                  <a:pt x="4084054" y="0"/>
                </a:lnTo>
                <a:lnTo>
                  <a:pt x="4084054" y="2621220"/>
                </a:lnTo>
                <a:lnTo>
                  <a:pt x="0" y="262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2472984" y="1028700"/>
            <a:ext cx="22925100" cy="0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388345" y="2320396"/>
            <a:ext cx="0" cy="8243309"/>
          </a:xfrm>
          <a:prstGeom prst="line">
            <a:avLst/>
          </a:prstGeom>
          <a:ln cap="flat" w="38100">
            <a:solidFill>
              <a:srgbClr val="BC9B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348959" y="1124986"/>
            <a:ext cx="1837409" cy="1837409"/>
          </a:xfrm>
          <a:custGeom>
            <a:avLst/>
            <a:gdLst/>
            <a:ahLst/>
            <a:cxnLst/>
            <a:rect r="r" b="b" t="t" l="l"/>
            <a:pathLst>
              <a:path h="1837409" w="1837409">
                <a:moveTo>
                  <a:pt x="0" y="0"/>
                </a:moveTo>
                <a:lnTo>
                  <a:pt x="1837410" y="0"/>
                </a:lnTo>
                <a:lnTo>
                  <a:pt x="1837410" y="1837409"/>
                </a:lnTo>
                <a:lnTo>
                  <a:pt x="0" y="1837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9641" y="1124986"/>
            <a:ext cx="1837409" cy="1837409"/>
          </a:xfrm>
          <a:custGeom>
            <a:avLst/>
            <a:gdLst/>
            <a:ahLst/>
            <a:cxnLst/>
            <a:rect r="r" b="b" t="t" l="l"/>
            <a:pathLst>
              <a:path h="1837409" w="1837409">
                <a:moveTo>
                  <a:pt x="0" y="0"/>
                </a:moveTo>
                <a:lnTo>
                  <a:pt x="1837409" y="0"/>
                </a:lnTo>
                <a:lnTo>
                  <a:pt x="1837409" y="1837409"/>
                </a:lnTo>
                <a:lnTo>
                  <a:pt x="0" y="1837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61727" y="38691"/>
            <a:ext cx="2826273" cy="829121"/>
          </a:xfrm>
          <a:custGeom>
            <a:avLst/>
            <a:gdLst/>
            <a:ahLst/>
            <a:cxnLst/>
            <a:rect r="r" b="b" t="t" l="l"/>
            <a:pathLst>
              <a:path h="829121" w="2826273">
                <a:moveTo>
                  <a:pt x="0" y="0"/>
                </a:moveTo>
                <a:lnTo>
                  <a:pt x="2826273" y="0"/>
                </a:lnTo>
                <a:lnTo>
                  <a:pt x="2826273" y="829120"/>
                </a:lnTo>
                <a:lnTo>
                  <a:pt x="0" y="829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6" y="106232"/>
            <a:ext cx="34820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SkillSwap - Campus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670953" y="8717773"/>
            <a:ext cx="2439684" cy="2439684"/>
          </a:xfrm>
          <a:custGeom>
            <a:avLst/>
            <a:gdLst/>
            <a:ahLst/>
            <a:cxnLst/>
            <a:rect r="r" b="b" t="t" l="l"/>
            <a:pathLst>
              <a:path h="2439684" w="2439684">
                <a:moveTo>
                  <a:pt x="0" y="0"/>
                </a:moveTo>
                <a:lnTo>
                  <a:pt x="2439684" y="0"/>
                </a:lnTo>
                <a:lnTo>
                  <a:pt x="2439684" y="2439684"/>
                </a:lnTo>
                <a:lnTo>
                  <a:pt x="0" y="2439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963264" y="1479888"/>
            <a:ext cx="10828196" cy="7327223"/>
            <a:chOff x="0" y="0"/>
            <a:chExt cx="14437594" cy="9769631"/>
          </a:xfrm>
        </p:grpSpPr>
        <p:sp>
          <p:nvSpPr>
            <p:cNvPr name="TextBox 11" id="11"/>
            <p:cNvSpPr txBox="true"/>
            <p:nvPr/>
          </p:nvSpPr>
          <p:spPr>
            <a:xfrm rot="-592460">
              <a:off x="325749" y="1551321"/>
              <a:ext cx="13634597" cy="4138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55"/>
                </a:lnSpc>
                <a:spcBef>
                  <a:spcPct val="0"/>
                </a:spcBef>
              </a:pPr>
              <a:r>
                <a:rPr lang="en-US" sz="22455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Thank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-515361">
              <a:off x="1794320" y="5132707"/>
              <a:ext cx="12434519" cy="372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10"/>
                </a:lnSpc>
                <a:spcBef>
                  <a:spcPct val="0"/>
                </a:spcBef>
              </a:pPr>
              <a:r>
                <a:rPr lang="en-US" sz="20210">
                  <a:solidFill>
                    <a:srgbClr val="F6F3E4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you!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951985" y="8931935"/>
            <a:ext cx="1355065" cy="1355065"/>
          </a:xfrm>
          <a:custGeom>
            <a:avLst/>
            <a:gdLst/>
            <a:ahLst/>
            <a:cxnLst/>
            <a:rect r="r" b="b" t="t" l="l"/>
            <a:pathLst>
              <a:path h="1355065" w="1355065">
                <a:moveTo>
                  <a:pt x="0" y="0"/>
                </a:moveTo>
                <a:lnTo>
                  <a:pt x="1355065" y="0"/>
                </a:lnTo>
                <a:lnTo>
                  <a:pt x="1355065" y="1355065"/>
                </a:lnTo>
                <a:lnTo>
                  <a:pt x="0" y="1355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DAHSLUKpuTs</dc:identifier>
  <dcterms:modified xsi:type="dcterms:W3CDTF">2011-08-01T06:04:30Z</dcterms:modified>
  <cp:revision>1</cp:revision>
  <dc:title>Beige Modern Graphic Design Portfolio Presentation</dc:title>
</cp:coreProperties>
</file>